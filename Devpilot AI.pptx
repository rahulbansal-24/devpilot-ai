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Patrick Hand" panose="00000500000000000000" pitchFamily="2" charset="0"/>
      <p:regular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81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9D9D9"/>
          </a:solidFill>
          <a:ln/>
        </p:spPr>
      </p:sp>
      <p:sp>
        <p:nvSpPr>
          <p:cNvPr id="3" name="Shape 1"/>
          <p:cNvSpPr/>
          <p:nvPr/>
        </p:nvSpPr>
        <p:spPr>
          <a:xfrm>
            <a:off x="0" y="0"/>
            <a:ext cx="9144000" cy="51435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6E6E6"/>
          </a:solidFill>
          <a:ln/>
        </p:spPr>
      </p:sp>
      <p:pic>
        <p:nvPicPr>
          <p:cNvPr id="3" name="Image 0" descr="preencoded.png"/>
          <p:cNvPicPr>
            <a:picLocks noChangeAspect="1"/>
          </p:cNvPicPr>
          <p:nvPr/>
        </p:nvPicPr>
        <p:blipFill>
          <a:blip r:embed="rId3"/>
          <a:stretch>
            <a:fillRect/>
          </a:stretch>
        </p:blipFill>
        <p:spPr>
          <a:xfrm>
            <a:off x="5788521" y="110282"/>
            <a:ext cx="3281958" cy="4922937"/>
          </a:xfrm>
          <a:prstGeom prst="rect">
            <a:avLst/>
          </a:prstGeom>
        </p:spPr>
      </p:pic>
      <p:sp>
        <p:nvSpPr>
          <p:cNvPr id="4" name="Text 1"/>
          <p:cNvSpPr/>
          <p:nvPr/>
        </p:nvSpPr>
        <p:spPr>
          <a:xfrm>
            <a:off x="540023" y="1555868"/>
            <a:ext cx="4634954" cy="367680"/>
          </a:xfrm>
          <a:prstGeom prst="rect">
            <a:avLst/>
          </a:prstGeom>
          <a:noFill/>
          <a:ln/>
        </p:spPr>
        <p:txBody>
          <a:bodyPr wrap="none" lIns="0" tIns="0" rIns="0" bIns="0" rtlCol="0" anchor="t"/>
          <a:lstStyle/>
          <a:p>
            <a:pPr marL="0" indent="0" algn="l">
              <a:lnSpc>
                <a:spcPct val="104000"/>
              </a:lnSpc>
              <a:buNone/>
            </a:pPr>
            <a:r>
              <a:rPr lang="en-US" sz="2300" dirty="0">
                <a:solidFill>
                  <a:srgbClr val="383838"/>
                </a:solidFill>
                <a:latin typeface="Patrick Hand" pitchFamily="34" charset="0"/>
                <a:ea typeface="Patrick Hand" pitchFamily="34" charset="-122"/>
                <a:cs typeface="Patrick Hand" pitchFamily="34" charset="-120"/>
              </a:rPr>
              <a:t>DevPilot AI</a:t>
            </a:r>
            <a:endParaRPr lang="en-US" sz="2300" dirty="0"/>
          </a:p>
        </p:txBody>
      </p:sp>
      <p:sp>
        <p:nvSpPr>
          <p:cNvPr id="5" name="Text 2"/>
          <p:cNvSpPr/>
          <p:nvPr/>
        </p:nvSpPr>
        <p:spPr>
          <a:xfrm>
            <a:off x="540023" y="2133767"/>
            <a:ext cx="4634954" cy="1014710"/>
          </a:xfrm>
          <a:prstGeom prst="rect">
            <a:avLst/>
          </a:prstGeom>
          <a:noFill/>
          <a:ln/>
        </p:spPr>
        <p:txBody>
          <a:bodyPr wrap="square" lIns="0" tIns="0" rIns="0" bIns="0" rtlCol="0" anchor="t">
            <a:normAutofit/>
          </a:bodyPr>
          <a:lstStyle/>
          <a:p>
            <a:pPr marL="0" indent="0" algn="l">
              <a:lnSpc>
                <a:spcPct val="104000"/>
              </a:lnSpc>
              <a:buNone/>
            </a:pPr>
            <a:r>
              <a:rPr lang="en-US" sz="3150" dirty="0">
                <a:solidFill>
                  <a:srgbClr val="383838"/>
                </a:solidFill>
                <a:latin typeface="Patrick Hand" pitchFamily="34" charset="0"/>
                <a:ea typeface="Patrick Hand" pitchFamily="34" charset="-122"/>
                <a:cs typeface="Patrick Hand" pitchFamily="34" charset="-120"/>
              </a:rPr>
              <a:t>Intelligent Multi-Agent Software Engineering Assistant</a:t>
            </a:r>
            <a:endParaRPr lang="en-US" sz="3150" dirty="0"/>
          </a:p>
        </p:txBody>
      </p:sp>
      <p:sp>
        <p:nvSpPr>
          <p:cNvPr id="6" name="Text 3"/>
          <p:cNvSpPr/>
          <p:nvPr/>
        </p:nvSpPr>
        <p:spPr>
          <a:xfrm>
            <a:off x="540023" y="3358697"/>
            <a:ext cx="4634954" cy="617116"/>
          </a:xfrm>
          <a:prstGeom prst="rect">
            <a:avLst/>
          </a:prstGeom>
          <a:noFill/>
          <a:ln/>
        </p:spPr>
        <p:txBody>
          <a:bodyPr wrap="square" lIns="0" tIns="0" rIns="0" bIns="0" rtlCol="0" anchor="t"/>
          <a:lstStyle/>
          <a:p>
            <a:pPr marL="0" indent="0" algn="l">
              <a:lnSpc>
                <a:spcPct val="130000"/>
              </a:lnSpc>
              <a:spcAft>
                <a:spcPts val="1200"/>
              </a:spcAft>
              <a:buNone/>
            </a:pPr>
            <a:r>
              <a:rPr lang="en-US" sz="1150" dirty="0">
                <a:solidFill>
                  <a:srgbClr val="383838"/>
                </a:solidFill>
                <a:latin typeface="Patrick Hand" pitchFamily="34" charset="0"/>
                <a:ea typeface="Patrick Hand" pitchFamily="34" charset="-122"/>
                <a:cs typeface="Patrick Hand" pitchFamily="34" charset="-120"/>
              </a:rPr>
              <a:t>Automating the Software Development Life Cycle (SDLC) using the OpenAI Agents SD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0023" y="457646"/>
            <a:ext cx="1044104" cy="208806"/>
          </a:xfrm>
          <a:prstGeom prst="roundRect">
            <a:avLst>
              <a:gd name="adj" fmla="val 22114"/>
            </a:avLst>
          </a:prstGeom>
          <a:solidFill>
            <a:srgbClr val="E6E6E6"/>
          </a:solidFill>
          <a:ln/>
        </p:spPr>
      </p:sp>
      <p:sp>
        <p:nvSpPr>
          <p:cNvPr id="3" name="Text 1"/>
          <p:cNvSpPr/>
          <p:nvPr/>
        </p:nvSpPr>
        <p:spPr>
          <a:xfrm>
            <a:off x="622474" y="498872"/>
            <a:ext cx="1336402" cy="126355"/>
          </a:xfrm>
          <a:prstGeom prst="rect">
            <a:avLst/>
          </a:prstGeom>
          <a:noFill/>
          <a:ln/>
        </p:spPr>
        <p:txBody>
          <a:bodyPr wrap="none" lIns="0" tIns="0" rIns="0" bIns="0" rtlCol="0" anchor="t"/>
          <a:lstStyle/>
          <a:p>
            <a:pPr marL="0" indent="0" algn="l">
              <a:lnSpc>
                <a:spcPct val="96000"/>
              </a:lnSpc>
              <a:buNone/>
            </a:pPr>
            <a:r>
              <a:rPr lang="en-US" sz="850" dirty="0">
                <a:solidFill>
                  <a:srgbClr val="383838"/>
                </a:solidFill>
                <a:latin typeface="Patrick Hand" pitchFamily="34" charset="0"/>
                <a:ea typeface="Patrick Hand" pitchFamily="34" charset="-122"/>
                <a:cs typeface="Patrick Hand" pitchFamily="34" charset="-120"/>
              </a:rPr>
              <a:t>PROBLEM STATEMENT</a:t>
            </a:r>
            <a:endParaRPr lang="en-US" sz="850" dirty="0"/>
          </a:p>
        </p:txBody>
      </p:sp>
      <p:sp>
        <p:nvSpPr>
          <p:cNvPr id="4" name="Text 2"/>
          <p:cNvSpPr/>
          <p:nvPr/>
        </p:nvSpPr>
        <p:spPr>
          <a:xfrm>
            <a:off x="540023" y="715342"/>
            <a:ext cx="8063954" cy="343570"/>
          </a:xfrm>
          <a:prstGeom prst="rect">
            <a:avLst/>
          </a:prstGeom>
          <a:noFill/>
          <a:ln/>
        </p:spPr>
        <p:txBody>
          <a:bodyPr wrap="none" lIns="0" tIns="0" rIns="0" bIns="0" rtlCol="0" anchor="t"/>
          <a:lstStyle/>
          <a:p>
            <a:pPr marL="0" indent="0" algn="l">
              <a:lnSpc>
                <a:spcPct val="104000"/>
              </a:lnSpc>
              <a:buNone/>
            </a:pPr>
            <a:r>
              <a:rPr lang="en-US" sz="2150" dirty="0">
                <a:solidFill>
                  <a:srgbClr val="383838"/>
                </a:solidFill>
                <a:latin typeface="Patrick Hand" pitchFamily="34" charset="0"/>
                <a:ea typeface="Patrick Hand" pitchFamily="34" charset="-122"/>
                <a:cs typeface="Patrick Hand" pitchFamily="34" charset="-120"/>
              </a:rPr>
              <a:t>Why DevPilot AI?</a:t>
            </a:r>
            <a:endParaRPr lang="en-US" sz="2150" dirty="0"/>
          </a:p>
        </p:txBody>
      </p:sp>
      <p:sp>
        <p:nvSpPr>
          <p:cNvPr id="5" name="Text 3"/>
          <p:cNvSpPr/>
          <p:nvPr/>
        </p:nvSpPr>
        <p:spPr>
          <a:xfrm>
            <a:off x="540023" y="1242492"/>
            <a:ext cx="8521154" cy="207838"/>
          </a:xfrm>
          <a:prstGeom prst="rect">
            <a:avLst/>
          </a:prstGeom>
          <a:noFill/>
          <a:ln/>
        </p:spPr>
        <p:txBody>
          <a:bodyPr wrap="none" lIns="0" tIns="0" rIns="0" bIns="0" rtlCol="0" anchor="t"/>
          <a:lstStyle/>
          <a:p>
            <a:pPr marL="0" indent="0" algn="l">
              <a:lnSpc>
                <a:spcPct val="126000"/>
              </a:lnSpc>
              <a:buNone/>
            </a:pPr>
            <a:r>
              <a:rPr lang="en-US" sz="1050" dirty="0">
                <a:solidFill>
                  <a:srgbClr val="383838"/>
                </a:solidFill>
                <a:latin typeface="Patrick Hand" pitchFamily="34" charset="0"/>
                <a:ea typeface="Patrick Hand" pitchFamily="34" charset="-122"/>
                <a:cs typeface="Patrick Hand" pitchFamily="34" charset="-120"/>
              </a:rPr>
              <a:t>Modern software development is fragmented, slow, and error-prone. Engineers juggle too many manual steps across disconnected tools.</a:t>
            </a:r>
            <a:endParaRPr lang="en-US" sz="1050" dirty="0"/>
          </a:p>
        </p:txBody>
      </p:sp>
      <p:sp>
        <p:nvSpPr>
          <p:cNvPr id="6" name="Shape 4"/>
          <p:cNvSpPr/>
          <p:nvPr/>
        </p:nvSpPr>
        <p:spPr>
          <a:xfrm>
            <a:off x="540023" y="1587996"/>
            <a:ext cx="3970809" cy="737220"/>
          </a:xfrm>
          <a:prstGeom prst="roundRect">
            <a:avLst>
              <a:gd name="adj" fmla="val 7829"/>
            </a:avLst>
          </a:prstGeom>
          <a:solidFill>
            <a:srgbClr val="E6E6E6"/>
          </a:solidFill>
          <a:ln w="4763">
            <a:solidFill>
              <a:srgbClr val="CCCCCC"/>
            </a:solidFill>
            <a:prstDash val="solid"/>
          </a:ln>
        </p:spPr>
      </p:sp>
      <p:sp>
        <p:nvSpPr>
          <p:cNvPr id="7" name="Text 5"/>
          <p:cNvSpPr/>
          <p:nvPr/>
        </p:nvSpPr>
        <p:spPr>
          <a:xfrm>
            <a:off x="682154" y="1730127"/>
            <a:ext cx="3686547" cy="171748"/>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Patrick Hand" pitchFamily="34" charset="0"/>
                <a:ea typeface="Patrick Hand" pitchFamily="34" charset="-122"/>
                <a:cs typeface="Patrick Hand" pitchFamily="34" charset="-120"/>
              </a:rPr>
              <a:t>📋</a:t>
            </a:r>
            <a:r>
              <a:rPr lang="en-US" sz="1050" dirty="0">
                <a:solidFill>
                  <a:srgbClr val="383838"/>
                </a:solidFill>
                <a:latin typeface="Patrick Hand" pitchFamily="34" charset="0"/>
                <a:ea typeface="Patrick Hand" pitchFamily="34" charset="-122"/>
                <a:cs typeface="Patrick Hand" pitchFamily="34" charset="-120"/>
              </a:rPr>
              <a:t> Manual Analysis</a:t>
            </a:r>
            <a:endParaRPr lang="en-US" sz="1050" dirty="0"/>
          </a:p>
        </p:txBody>
      </p:sp>
      <p:sp>
        <p:nvSpPr>
          <p:cNvPr id="8" name="Text 6"/>
          <p:cNvSpPr/>
          <p:nvPr/>
        </p:nvSpPr>
        <p:spPr>
          <a:xfrm>
            <a:off x="682154" y="1975247"/>
            <a:ext cx="3686547" cy="207838"/>
          </a:xfrm>
          <a:prstGeom prst="rect">
            <a:avLst/>
          </a:prstGeom>
          <a:noFill/>
          <a:ln/>
        </p:spPr>
        <p:txBody>
          <a:bodyPr wrap="none" lIns="0" tIns="0" rIns="0" bIns="0" rtlCol="0" anchor="t"/>
          <a:lstStyle/>
          <a:p>
            <a:pPr marL="0" indent="0" algn="l">
              <a:lnSpc>
                <a:spcPct val="126000"/>
              </a:lnSpc>
              <a:buNone/>
            </a:pPr>
            <a:r>
              <a:rPr lang="en-US" sz="1050" dirty="0">
                <a:solidFill>
                  <a:srgbClr val="383838"/>
                </a:solidFill>
                <a:latin typeface="Patrick Hand" pitchFamily="34" charset="0"/>
                <a:ea typeface="Patrick Hand" pitchFamily="34" charset="-122"/>
                <a:cs typeface="Patrick Hand" pitchFamily="34" charset="-120"/>
              </a:rPr>
              <a:t>Requirements parsed by hand — slow and inconsistent</a:t>
            </a:r>
            <a:endParaRPr lang="en-US" sz="1050" dirty="0"/>
          </a:p>
        </p:txBody>
      </p:sp>
      <p:sp>
        <p:nvSpPr>
          <p:cNvPr id="9" name="Shape 7"/>
          <p:cNvSpPr/>
          <p:nvPr/>
        </p:nvSpPr>
        <p:spPr>
          <a:xfrm>
            <a:off x="4633168" y="1587996"/>
            <a:ext cx="3970809" cy="737220"/>
          </a:xfrm>
          <a:prstGeom prst="roundRect">
            <a:avLst>
              <a:gd name="adj" fmla="val 7829"/>
            </a:avLst>
          </a:prstGeom>
          <a:solidFill>
            <a:srgbClr val="E6E6E6"/>
          </a:solidFill>
          <a:ln w="4763">
            <a:solidFill>
              <a:srgbClr val="CCCCCC"/>
            </a:solidFill>
            <a:prstDash val="solid"/>
          </a:ln>
        </p:spPr>
      </p:sp>
      <p:sp>
        <p:nvSpPr>
          <p:cNvPr id="10" name="Text 8"/>
          <p:cNvSpPr/>
          <p:nvPr/>
        </p:nvSpPr>
        <p:spPr>
          <a:xfrm>
            <a:off x="4775299" y="1730127"/>
            <a:ext cx="3686547" cy="171748"/>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Patrick Hand" pitchFamily="34" charset="0"/>
                <a:ea typeface="Patrick Hand" pitchFamily="34" charset="-122"/>
                <a:cs typeface="Patrick Hand" pitchFamily="34" charset="-120"/>
              </a:rPr>
              <a:t>⏱</a:t>
            </a:r>
            <a:r>
              <a:rPr lang="en-US" sz="1050" dirty="0">
                <a:solidFill>
                  <a:srgbClr val="383838"/>
                </a:solidFill>
                <a:latin typeface="Patrick Hand" pitchFamily="34" charset="0"/>
                <a:ea typeface="Patrick Hand" pitchFamily="34" charset="-122"/>
                <a:cs typeface="Patrick Hand" pitchFamily="34" charset="-120"/>
              </a:rPr>
              <a:t> Code Generation</a:t>
            </a:r>
            <a:endParaRPr lang="en-US" sz="1050" dirty="0"/>
          </a:p>
        </p:txBody>
      </p:sp>
      <p:sp>
        <p:nvSpPr>
          <p:cNvPr id="11" name="Text 9"/>
          <p:cNvSpPr/>
          <p:nvPr/>
        </p:nvSpPr>
        <p:spPr>
          <a:xfrm>
            <a:off x="4775299" y="1975247"/>
            <a:ext cx="3686547" cy="207838"/>
          </a:xfrm>
          <a:prstGeom prst="rect">
            <a:avLst/>
          </a:prstGeom>
          <a:noFill/>
          <a:ln/>
        </p:spPr>
        <p:txBody>
          <a:bodyPr wrap="none" lIns="0" tIns="0" rIns="0" bIns="0" rtlCol="0" anchor="t"/>
          <a:lstStyle/>
          <a:p>
            <a:pPr marL="0" indent="0" algn="l">
              <a:lnSpc>
                <a:spcPct val="126000"/>
              </a:lnSpc>
              <a:buNone/>
            </a:pPr>
            <a:r>
              <a:rPr lang="en-US" sz="1050" dirty="0">
                <a:solidFill>
                  <a:srgbClr val="383838"/>
                </a:solidFill>
                <a:latin typeface="Patrick Hand" pitchFamily="34" charset="0"/>
                <a:ea typeface="Patrick Hand" pitchFamily="34" charset="-122"/>
                <a:cs typeface="Patrick Hand" pitchFamily="34" charset="-120"/>
              </a:rPr>
              <a:t>Writing boilerplate and logic consumes critical dev time</a:t>
            </a:r>
            <a:endParaRPr lang="en-US" sz="1050" dirty="0"/>
          </a:p>
        </p:txBody>
      </p:sp>
      <p:sp>
        <p:nvSpPr>
          <p:cNvPr id="12" name="Shape 10"/>
          <p:cNvSpPr/>
          <p:nvPr/>
        </p:nvSpPr>
        <p:spPr>
          <a:xfrm>
            <a:off x="540023" y="2447553"/>
            <a:ext cx="3970809" cy="737220"/>
          </a:xfrm>
          <a:prstGeom prst="roundRect">
            <a:avLst>
              <a:gd name="adj" fmla="val 7829"/>
            </a:avLst>
          </a:prstGeom>
          <a:solidFill>
            <a:srgbClr val="E6E6E6"/>
          </a:solidFill>
          <a:ln w="4763">
            <a:solidFill>
              <a:srgbClr val="CCCCCC"/>
            </a:solidFill>
            <a:prstDash val="solid"/>
          </a:ln>
        </p:spPr>
      </p:sp>
      <p:sp>
        <p:nvSpPr>
          <p:cNvPr id="13" name="Text 11"/>
          <p:cNvSpPr/>
          <p:nvPr/>
        </p:nvSpPr>
        <p:spPr>
          <a:xfrm>
            <a:off x="682154" y="2589684"/>
            <a:ext cx="3686547" cy="171748"/>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Patrick Hand" pitchFamily="34" charset="0"/>
                <a:ea typeface="Patrick Hand" pitchFamily="34" charset="-122"/>
                <a:cs typeface="Patrick Hand" pitchFamily="34" charset="-120"/>
              </a:rPr>
              <a:t>🔍</a:t>
            </a:r>
            <a:r>
              <a:rPr lang="en-US" sz="1050" dirty="0">
                <a:solidFill>
                  <a:srgbClr val="383838"/>
                </a:solidFill>
                <a:latin typeface="Patrick Hand" pitchFamily="34" charset="0"/>
                <a:ea typeface="Patrick Hand" pitchFamily="34" charset="-122"/>
                <a:cs typeface="Patrick Hand" pitchFamily="34" charset="-120"/>
              </a:rPr>
              <a:t> Lengthy Reviews</a:t>
            </a:r>
            <a:endParaRPr lang="en-US" sz="1050" dirty="0"/>
          </a:p>
        </p:txBody>
      </p:sp>
      <p:sp>
        <p:nvSpPr>
          <p:cNvPr id="14" name="Text 12"/>
          <p:cNvSpPr/>
          <p:nvPr/>
        </p:nvSpPr>
        <p:spPr>
          <a:xfrm>
            <a:off x="682154" y="2834804"/>
            <a:ext cx="3686547" cy="207838"/>
          </a:xfrm>
          <a:prstGeom prst="rect">
            <a:avLst/>
          </a:prstGeom>
          <a:noFill/>
          <a:ln/>
        </p:spPr>
        <p:txBody>
          <a:bodyPr wrap="none" lIns="0" tIns="0" rIns="0" bIns="0" rtlCol="0" anchor="t"/>
          <a:lstStyle/>
          <a:p>
            <a:pPr marL="0" indent="0" algn="l">
              <a:lnSpc>
                <a:spcPct val="126000"/>
              </a:lnSpc>
              <a:buNone/>
            </a:pPr>
            <a:r>
              <a:rPr lang="en-US" sz="1050" dirty="0">
                <a:solidFill>
                  <a:srgbClr val="383838"/>
                </a:solidFill>
                <a:latin typeface="Patrick Hand" pitchFamily="34" charset="0"/>
                <a:ea typeface="Patrick Hand" pitchFamily="34" charset="-122"/>
                <a:cs typeface="Patrick Hand" pitchFamily="34" charset="-120"/>
              </a:rPr>
              <a:t>Manual code reviews introduce bottlenecks and blind spots</a:t>
            </a:r>
            <a:endParaRPr lang="en-US" sz="1050" dirty="0"/>
          </a:p>
        </p:txBody>
      </p:sp>
      <p:sp>
        <p:nvSpPr>
          <p:cNvPr id="15" name="Shape 13"/>
          <p:cNvSpPr/>
          <p:nvPr/>
        </p:nvSpPr>
        <p:spPr>
          <a:xfrm>
            <a:off x="4633168" y="2447553"/>
            <a:ext cx="3970809" cy="737220"/>
          </a:xfrm>
          <a:prstGeom prst="roundRect">
            <a:avLst>
              <a:gd name="adj" fmla="val 7829"/>
            </a:avLst>
          </a:prstGeom>
          <a:solidFill>
            <a:srgbClr val="E6E6E6"/>
          </a:solidFill>
          <a:ln w="4763">
            <a:solidFill>
              <a:srgbClr val="CCCCCC"/>
            </a:solidFill>
            <a:prstDash val="solid"/>
          </a:ln>
        </p:spPr>
      </p:sp>
      <p:sp>
        <p:nvSpPr>
          <p:cNvPr id="16" name="Text 14"/>
          <p:cNvSpPr/>
          <p:nvPr/>
        </p:nvSpPr>
        <p:spPr>
          <a:xfrm>
            <a:off x="4775299" y="2589684"/>
            <a:ext cx="3686547" cy="171748"/>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Patrick Hand" pitchFamily="34" charset="0"/>
                <a:ea typeface="Patrick Hand" pitchFamily="34" charset="-122"/>
                <a:cs typeface="Patrick Hand" pitchFamily="34" charset="-120"/>
              </a:rPr>
              <a:t>🧪</a:t>
            </a:r>
            <a:r>
              <a:rPr lang="en-US" sz="1050" dirty="0">
                <a:solidFill>
                  <a:srgbClr val="383838"/>
                </a:solidFill>
                <a:latin typeface="Patrick Hand" pitchFamily="34" charset="0"/>
                <a:ea typeface="Patrick Hand" pitchFamily="34" charset="-122"/>
                <a:cs typeface="Patrick Hand" pitchFamily="34" charset="-120"/>
              </a:rPr>
              <a:t> Complex Testing</a:t>
            </a:r>
            <a:endParaRPr lang="en-US" sz="1050" dirty="0"/>
          </a:p>
        </p:txBody>
      </p:sp>
      <p:sp>
        <p:nvSpPr>
          <p:cNvPr id="17" name="Text 15"/>
          <p:cNvSpPr/>
          <p:nvPr/>
        </p:nvSpPr>
        <p:spPr>
          <a:xfrm>
            <a:off x="4775299" y="2834804"/>
            <a:ext cx="3686547" cy="207838"/>
          </a:xfrm>
          <a:prstGeom prst="rect">
            <a:avLst/>
          </a:prstGeom>
          <a:noFill/>
          <a:ln/>
        </p:spPr>
        <p:txBody>
          <a:bodyPr wrap="none" lIns="0" tIns="0" rIns="0" bIns="0" rtlCol="0" anchor="t"/>
          <a:lstStyle/>
          <a:p>
            <a:pPr marL="0" indent="0" algn="l">
              <a:lnSpc>
                <a:spcPct val="126000"/>
              </a:lnSpc>
              <a:buNone/>
            </a:pPr>
            <a:r>
              <a:rPr lang="en-US" sz="1050" dirty="0">
                <a:solidFill>
                  <a:srgbClr val="383838"/>
                </a:solidFill>
                <a:latin typeface="Patrick Hand" pitchFamily="34" charset="0"/>
                <a:ea typeface="Patrick Hand" pitchFamily="34" charset="-122"/>
                <a:cs typeface="Patrick Hand" pitchFamily="34" charset="-120"/>
              </a:rPr>
              <a:t>Test creation, execution, and bug investigation are siloed</a:t>
            </a:r>
            <a:endParaRPr lang="en-US" sz="1050" dirty="0"/>
          </a:p>
        </p:txBody>
      </p:sp>
      <p:sp>
        <p:nvSpPr>
          <p:cNvPr id="24" name="Rectangle 23">
            <a:extLst>
              <a:ext uri="{FF2B5EF4-FFF2-40B4-BE49-F238E27FC236}">
                <a16:creationId xmlns:a16="http://schemas.microsoft.com/office/drawing/2014/main" id="{F6440FB6-083E-3920-23E4-753C611DD404}"/>
              </a:ext>
            </a:extLst>
          </p:cNvPr>
          <p:cNvSpPr/>
          <p:nvPr/>
        </p:nvSpPr>
        <p:spPr>
          <a:xfrm>
            <a:off x="8066098" y="4862670"/>
            <a:ext cx="1077902" cy="207838"/>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0023" y="434132"/>
            <a:ext cx="550218" cy="117202"/>
          </a:xfrm>
          <a:prstGeom prst="roundRect">
            <a:avLst>
              <a:gd name="adj" fmla="val 22118"/>
            </a:avLst>
          </a:prstGeom>
          <a:solidFill>
            <a:srgbClr val="E6E6E6"/>
          </a:solidFill>
          <a:ln/>
        </p:spPr>
      </p:sp>
      <p:sp>
        <p:nvSpPr>
          <p:cNvPr id="3" name="Text 1"/>
          <p:cNvSpPr/>
          <p:nvPr/>
        </p:nvSpPr>
        <p:spPr>
          <a:xfrm>
            <a:off x="586308" y="457274"/>
            <a:ext cx="914846" cy="70917"/>
          </a:xfrm>
          <a:prstGeom prst="rect">
            <a:avLst/>
          </a:prstGeom>
          <a:noFill/>
          <a:ln/>
        </p:spPr>
        <p:txBody>
          <a:bodyPr wrap="none" lIns="0" tIns="0" rIns="0" bIns="0" rtlCol="0" anchor="t"/>
          <a:lstStyle/>
          <a:p>
            <a:pPr marL="0" indent="0" algn="l">
              <a:lnSpc>
                <a:spcPct val="96000"/>
              </a:lnSpc>
              <a:buNone/>
            </a:pPr>
            <a:r>
              <a:rPr lang="en-US" sz="450" dirty="0">
                <a:solidFill>
                  <a:srgbClr val="383838"/>
                </a:solidFill>
                <a:latin typeface="Patrick Hand" pitchFamily="34" charset="0"/>
                <a:ea typeface="Patrick Hand" pitchFamily="34" charset="-122"/>
                <a:cs typeface="Patrick Hand" pitchFamily="34" charset="-120"/>
              </a:rPr>
              <a:t>PROJECT OVERVIEW</a:t>
            </a:r>
            <a:endParaRPr lang="en-US" sz="450" dirty="0"/>
          </a:p>
        </p:txBody>
      </p:sp>
      <p:sp>
        <p:nvSpPr>
          <p:cNvPr id="4" name="Text 2"/>
          <p:cNvSpPr/>
          <p:nvPr/>
        </p:nvSpPr>
        <p:spPr>
          <a:xfrm>
            <a:off x="540023" y="566738"/>
            <a:ext cx="8063954" cy="192881"/>
          </a:xfrm>
          <a:prstGeom prst="rect">
            <a:avLst/>
          </a:prstGeom>
          <a:noFill/>
          <a:ln/>
        </p:spPr>
        <p:txBody>
          <a:bodyPr wrap="none" lIns="0" tIns="0" rIns="0" bIns="0" rtlCol="0" anchor="t"/>
          <a:lstStyle/>
          <a:p>
            <a:pPr marL="0" indent="0" algn="l">
              <a:lnSpc>
                <a:spcPct val="104000"/>
              </a:lnSpc>
              <a:buNone/>
            </a:pPr>
            <a:r>
              <a:rPr lang="en-US" sz="2000" dirty="0">
                <a:solidFill>
                  <a:srgbClr val="383838"/>
                </a:solidFill>
                <a:latin typeface="Patrick Hand" pitchFamily="34" charset="0"/>
                <a:ea typeface="Patrick Hand" pitchFamily="34" charset="-122"/>
                <a:cs typeface="Patrick Hand" pitchFamily="34" charset="-120"/>
              </a:rPr>
              <a:t>What is DevPilot AI?</a:t>
            </a:r>
            <a:endParaRPr lang="en-US" sz="2000" dirty="0"/>
          </a:p>
        </p:txBody>
      </p:sp>
      <p:pic>
        <p:nvPicPr>
          <p:cNvPr id="5" name="Image 0" descr="preencoded.png"/>
          <p:cNvPicPr>
            <a:picLocks noChangeAspect="1"/>
          </p:cNvPicPr>
          <p:nvPr/>
        </p:nvPicPr>
        <p:blipFill>
          <a:blip r:embed="rId3"/>
          <a:stretch>
            <a:fillRect/>
          </a:stretch>
        </p:blipFill>
        <p:spPr>
          <a:xfrm>
            <a:off x="540023" y="860822"/>
            <a:ext cx="2700040" cy="2700040"/>
          </a:xfrm>
          <a:prstGeom prst="rect">
            <a:avLst/>
          </a:prstGeom>
        </p:spPr>
      </p:pic>
      <p:sp>
        <p:nvSpPr>
          <p:cNvPr id="6" name="Text 3"/>
          <p:cNvSpPr/>
          <p:nvPr/>
        </p:nvSpPr>
        <p:spPr>
          <a:xfrm>
            <a:off x="3428256" y="1197099"/>
            <a:ext cx="5175721" cy="185142"/>
          </a:xfrm>
          <a:prstGeom prst="rect">
            <a:avLst/>
          </a:prstGeom>
          <a:noFill/>
          <a:ln/>
        </p:spPr>
        <p:txBody>
          <a:bodyPr wrap="square" lIns="0" tIns="0" rIns="0" bIns="0" rtlCol="0" anchor="t">
            <a:noAutofit/>
          </a:bodyPr>
          <a:lstStyle/>
          <a:p>
            <a:pPr marL="0" indent="0" algn="l">
              <a:lnSpc>
                <a:spcPct val="100000"/>
              </a:lnSpc>
              <a:buNone/>
            </a:pPr>
            <a:r>
              <a:rPr lang="en-US" sz="1600" dirty="0">
                <a:solidFill>
                  <a:srgbClr val="383838"/>
                </a:solidFill>
                <a:latin typeface="Patrick Hand" pitchFamily="34" charset="0"/>
                <a:ea typeface="Patrick Hand" pitchFamily="34" charset="-122"/>
                <a:cs typeface="Patrick Hand" pitchFamily="34" charset="-120"/>
              </a:rPr>
              <a:t>DevPilot AI is an intelligent </a:t>
            </a:r>
            <a:r>
              <a:rPr lang="en-US" sz="1600" b="1" dirty="0">
                <a:solidFill>
                  <a:srgbClr val="383838"/>
                </a:solidFill>
                <a:latin typeface="Patrick Hand" pitchFamily="34" charset="0"/>
                <a:ea typeface="Patrick Hand" pitchFamily="34" charset="-122"/>
                <a:cs typeface="Patrick Hand" pitchFamily="34" charset="-120"/>
              </a:rPr>
              <a:t>Multi-Agent Software Engineering Assistant</a:t>
            </a:r>
            <a:r>
              <a:rPr lang="en-US" sz="1600" dirty="0">
                <a:solidFill>
                  <a:srgbClr val="383838"/>
                </a:solidFill>
                <a:latin typeface="Patrick Hand" pitchFamily="34" charset="0"/>
                <a:ea typeface="Patrick Hand" pitchFamily="34" charset="-122"/>
                <a:cs typeface="Patrick Hand" pitchFamily="34" charset="-120"/>
              </a:rPr>
              <a:t> built on the OpenAI Agents SDK. Instead of one general-purpose AI, it deploys </a:t>
            </a:r>
            <a:r>
              <a:rPr lang="en-US" sz="1600" b="1" dirty="0">
                <a:solidFill>
                  <a:srgbClr val="383838"/>
                </a:solidFill>
                <a:latin typeface="Patrick Hand" pitchFamily="34" charset="0"/>
                <a:ea typeface="Patrick Hand" pitchFamily="34" charset="-122"/>
                <a:cs typeface="Patrick Hand" pitchFamily="34" charset="-120"/>
              </a:rPr>
              <a:t>specialized agents</a:t>
            </a:r>
            <a:r>
              <a:rPr lang="en-US" sz="1600" dirty="0">
                <a:solidFill>
                  <a:srgbClr val="383838"/>
                </a:solidFill>
                <a:latin typeface="Patrick Hand" pitchFamily="34" charset="0"/>
                <a:ea typeface="Patrick Hand" pitchFamily="34" charset="-122"/>
                <a:cs typeface="Patrick Hand" pitchFamily="34" charset="-120"/>
              </a:rPr>
              <a:t> that collaborate to automate every phase of the SDLC.</a:t>
            </a:r>
            <a:endParaRPr lang="en-US" sz="16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0023" y="3647629"/>
            <a:ext cx="1987079" cy="385390"/>
          </a:xfrm>
          <a:prstGeom prst="rect">
            <a:avLst/>
          </a:prstGeom>
        </p:spPr>
      </p:pic>
      <p:sp>
        <p:nvSpPr>
          <p:cNvPr id="8" name="Text 4"/>
          <p:cNvSpPr/>
          <p:nvPr/>
        </p:nvSpPr>
        <p:spPr>
          <a:xfrm>
            <a:off x="664741" y="3734246"/>
            <a:ext cx="1775743" cy="96441"/>
          </a:xfrm>
          <a:prstGeom prst="rect">
            <a:avLst/>
          </a:prstGeom>
          <a:noFill/>
          <a:ln/>
        </p:spPr>
        <p:txBody>
          <a:bodyPr wrap="none" lIns="0" tIns="0" rIns="0" bIns="0" rtlCol="0" anchor="t"/>
          <a:lstStyle/>
          <a:p>
            <a:pPr marL="0" indent="0" algn="l">
              <a:lnSpc>
                <a:spcPct val="104000"/>
              </a:lnSpc>
              <a:buNone/>
            </a:pPr>
            <a:r>
              <a:rPr lang="en-US" sz="800" dirty="0">
                <a:solidFill>
                  <a:srgbClr val="383838"/>
                </a:solidFill>
                <a:latin typeface="Patrick Hand" pitchFamily="34" charset="0"/>
                <a:ea typeface="Patrick Hand" pitchFamily="34" charset="-122"/>
                <a:cs typeface="Patrick Hand" pitchFamily="34" charset="-120"/>
              </a:rPr>
              <a:t>Multi-Agent Collaboration</a:t>
            </a:r>
            <a:endParaRPr lang="en-US" sz="800" dirty="0"/>
          </a:p>
        </p:txBody>
      </p:sp>
      <p:sp>
        <p:nvSpPr>
          <p:cNvPr id="9" name="Text 5"/>
          <p:cNvSpPr/>
          <p:nvPr/>
        </p:nvSpPr>
        <p:spPr>
          <a:xfrm>
            <a:off x="664741" y="3853830"/>
            <a:ext cx="1775743" cy="92571"/>
          </a:xfrm>
          <a:prstGeom prst="rect">
            <a:avLst/>
          </a:prstGeom>
          <a:noFill/>
          <a:ln/>
        </p:spPr>
        <p:txBody>
          <a:bodyPr wrap="none" lIns="0" tIns="0" rIns="0" bIns="0" rtlCol="0" anchor="t"/>
          <a:lstStyle/>
          <a:p>
            <a:pPr marL="0" indent="0" algn="l">
              <a:lnSpc>
                <a:spcPct val="100000"/>
              </a:lnSpc>
              <a:buNone/>
            </a:pPr>
            <a:r>
              <a:rPr lang="en-US" sz="800" dirty="0">
                <a:solidFill>
                  <a:srgbClr val="383838"/>
                </a:solidFill>
                <a:latin typeface="Patrick Hand" pitchFamily="34" charset="0"/>
                <a:ea typeface="Patrick Hand" pitchFamily="34" charset="-122"/>
                <a:cs typeface="Patrick Hand" pitchFamily="34" charset="-120"/>
              </a:rPr>
              <a:t>Specialist agents work in concert, not in isolation</a:t>
            </a:r>
            <a:endParaRPr lang="en-US" sz="8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65648" y="3647629"/>
            <a:ext cx="1987079" cy="385390"/>
          </a:xfrm>
          <a:prstGeom prst="rect">
            <a:avLst/>
          </a:prstGeom>
        </p:spPr>
      </p:pic>
      <p:sp>
        <p:nvSpPr>
          <p:cNvPr id="11" name="Text 6"/>
          <p:cNvSpPr/>
          <p:nvPr/>
        </p:nvSpPr>
        <p:spPr>
          <a:xfrm>
            <a:off x="2690366" y="3734246"/>
            <a:ext cx="1775743" cy="96441"/>
          </a:xfrm>
          <a:prstGeom prst="rect">
            <a:avLst/>
          </a:prstGeom>
          <a:noFill/>
          <a:ln/>
        </p:spPr>
        <p:txBody>
          <a:bodyPr wrap="none" lIns="0" tIns="0" rIns="0" bIns="0" rtlCol="0" anchor="t"/>
          <a:lstStyle/>
          <a:p>
            <a:pPr marL="0" indent="0" algn="l">
              <a:lnSpc>
                <a:spcPct val="104000"/>
              </a:lnSpc>
              <a:buNone/>
            </a:pPr>
            <a:r>
              <a:rPr lang="en-US" sz="800" dirty="0">
                <a:solidFill>
                  <a:srgbClr val="383838"/>
                </a:solidFill>
                <a:latin typeface="Patrick Hand" pitchFamily="34" charset="0"/>
                <a:ea typeface="Patrick Hand" pitchFamily="34" charset="-122"/>
                <a:cs typeface="Patrick Hand" pitchFamily="34" charset="-120"/>
              </a:rPr>
              <a:t>Reflection Loops</a:t>
            </a:r>
            <a:endParaRPr lang="en-US" sz="800" dirty="0"/>
          </a:p>
        </p:txBody>
      </p:sp>
      <p:sp>
        <p:nvSpPr>
          <p:cNvPr id="12" name="Text 7"/>
          <p:cNvSpPr/>
          <p:nvPr/>
        </p:nvSpPr>
        <p:spPr>
          <a:xfrm>
            <a:off x="2633013" y="3862128"/>
            <a:ext cx="1775743" cy="92571"/>
          </a:xfrm>
          <a:prstGeom prst="rect">
            <a:avLst/>
          </a:prstGeom>
          <a:noFill/>
          <a:ln/>
        </p:spPr>
        <p:txBody>
          <a:bodyPr wrap="none" lIns="0" tIns="0" rIns="0" bIns="0" rtlCol="0" anchor="t"/>
          <a:lstStyle/>
          <a:p>
            <a:pPr marL="0" indent="0" algn="l">
              <a:lnSpc>
                <a:spcPct val="100000"/>
              </a:lnSpc>
              <a:buNone/>
            </a:pPr>
            <a:r>
              <a:rPr lang="en-US" sz="800" dirty="0">
                <a:solidFill>
                  <a:srgbClr val="383838"/>
                </a:solidFill>
                <a:latin typeface="Patrick Hand" pitchFamily="34" charset="0"/>
                <a:ea typeface="Patrick Hand" pitchFamily="34" charset="-122"/>
                <a:cs typeface="Patrick Hand" pitchFamily="34" charset="-120"/>
              </a:rPr>
              <a:t>Self-improving code through iterative review cycles</a:t>
            </a:r>
            <a:endParaRPr lang="en-US" sz="8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91273" y="3647629"/>
            <a:ext cx="1987079" cy="385390"/>
          </a:xfrm>
          <a:prstGeom prst="rect">
            <a:avLst/>
          </a:prstGeom>
        </p:spPr>
      </p:pic>
      <p:sp>
        <p:nvSpPr>
          <p:cNvPr id="14" name="Text 8"/>
          <p:cNvSpPr/>
          <p:nvPr/>
        </p:nvSpPr>
        <p:spPr>
          <a:xfrm>
            <a:off x="4715991" y="3734246"/>
            <a:ext cx="1775743" cy="96441"/>
          </a:xfrm>
          <a:prstGeom prst="rect">
            <a:avLst/>
          </a:prstGeom>
          <a:noFill/>
          <a:ln/>
        </p:spPr>
        <p:txBody>
          <a:bodyPr wrap="none" lIns="0" tIns="0" rIns="0" bIns="0" rtlCol="0" anchor="t"/>
          <a:lstStyle/>
          <a:p>
            <a:pPr marL="0" indent="0" algn="l">
              <a:lnSpc>
                <a:spcPct val="104000"/>
              </a:lnSpc>
              <a:buNone/>
            </a:pPr>
            <a:r>
              <a:rPr lang="en-US" sz="800" dirty="0">
                <a:solidFill>
                  <a:srgbClr val="383838"/>
                </a:solidFill>
                <a:latin typeface="Patrick Hand" pitchFamily="34" charset="0"/>
                <a:ea typeface="Patrick Hand" pitchFamily="34" charset="-122"/>
                <a:cs typeface="Patrick Hand" pitchFamily="34" charset="-120"/>
              </a:rPr>
              <a:t>Parallel Execution</a:t>
            </a:r>
            <a:endParaRPr lang="en-US" sz="800" dirty="0"/>
          </a:p>
        </p:txBody>
      </p:sp>
      <p:sp>
        <p:nvSpPr>
          <p:cNvPr id="15" name="Text 9"/>
          <p:cNvSpPr/>
          <p:nvPr/>
        </p:nvSpPr>
        <p:spPr>
          <a:xfrm>
            <a:off x="4715991" y="3853830"/>
            <a:ext cx="1775743" cy="92571"/>
          </a:xfrm>
          <a:prstGeom prst="rect">
            <a:avLst/>
          </a:prstGeom>
          <a:noFill/>
          <a:ln/>
        </p:spPr>
        <p:txBody>
          <a:bodyPr wrap="none" lIns="0" tIns="0" rIns="0" bIns="0" rtlCol="0" anchor="t"/>
          <a:lstStyle/>
          <a:p>
            <a:pPr marL="0" indent="0" algn="l">
              <a:lnSpc>
                <a:spcPct val="100000"/>
              </a:lnSpc>
              <a:buNone/>
            </a:pPr>
            <a:r>
              <a:rPr lang="en-US" sz="800" dirty="0">
                <a:solidFill>
                  <a:srgbClr val="383838"/>
                </a:solidFill>
                <a:latin typeface="Patrick Hand" pitchFamily="34" charset="0"/>
                <a:ea typeface="Patrick Hand" pitchFamily="34" charset="-122"/>
                <a:cs typeface="Patrick Hand" pitchFamily="34" charset="-120"/>
              </a:rPr>
              <a:t>Testing and documentation run simultaneously</a:t>
            </a:r>
            <a:endParaRPr lang="en-US" sz="8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6898" y="3647629"/>
            <a:ext cx="1987079" cy="385390"/>
          </a:xfrm>
          <a:prstGeom prst="rect">
            <a:avLst/>
          </a:prstGeom>
        </p:spPr>
      </p:pic>
      <p:sp>
        <p:nvSpPr>
          <p:cNvPr id="17" name="Text 10"/>
          <p:cNvSpPr/>
          <p:nvPr/>
        </p:nvSpPr>
        <p:spPr>
          <a:xfrm>
            <a:off x="6741616" y="3734246"/>
            <a:ext cx="1775743" cy="96441"/>
          </a:xfrm>
          <a:prstGeom prst="rect">
            <a:avLst/>
          </a:prstGeom>
          <a:noFill/>
          <a:ln/>
        </p:spPr>
        <p:txBody>
          <a:bodyPr wrap="none" lIns="0" tIns="0" rIns="0" bIns="0" rtlCol="0" anchor="t"/>
          <a:lstStyle/>
          <a:p>
            <a:pPr marL="0" indent="0" algn="l">
              <a:lnSpc>
                <a:spcPct val="104000"/>
              </a:lnSpc>
              <a:buNone/>
            </a:pPr>
            <a:r>
              <a:rPr lang="en-US" sz="800" dirty="0">
                <a:solidFill>
                  <a:srgbClr val="383838"/>
                </a:solidFill>
                <a:latin typeface="Patrick Hand" pitchFamily="34" charset="0"/>
                <a:ea typeface="Patrick Hand" pitchFamily="34" charset="-122"/>
                <a:cs typeface="Patrick Hand" pitchFamily="34" charset="-120"/>
              </a:rPr>
              <a:t>Shared Project Memory</a:t>
            </a:r>
            <a:endParaRPr lang="en-US" sz="800" dirty="0"/>
          </a:p>
        </p:txBody>
      </p:sp>
      <p:sp>
        <p:nvSpPr>
          <p:cNvPr id="18" name="Text 11"/>
          <p:cNvSpPr/>
          <p:nvPr/>
        </p:nvSpPr>
        <p:spPr>
          <a:xfrm>
            <a:off x="6741616" y="3853830"/>
            <a:ext cx="1775743" cy="92571"/>
          </a:xfrm>
          <a:prstGeom prst="rect">
            <a:avLst/>
          </a:prstGeom>
          <a:noFill/>
          <a:ln/>
        </p:spPr>
        <p:txBody>
          <a:bodyPr wrap="none" lIns="0" tIns="0" rIns="0" bIns="0" rtlCol="0" anchor="t"/>
          <a:lstStyle/>
          <a:p>
            <a:pPr marL="0" indent="0" algn="l">
              <a:lnSpc>
                <a:spcPct val="100000"/>
              </a:lnSpc>
              <a:buNone/>
            </a:pPr>
            <a:r>
              <a:rPr lang="en-US" sz="800" dirty="0">
                <a:solidFill>
                  <a:srgbClr val="383838"/>
                </a:solidFill>
                <a:latin typeface="Patrick Hand" pitchFamily="34" charset="0"/>
                <a:ea typeface="Patrick Hand" pitchFamily="34" charset="-122"/>
                <a:cs typeface="Patrick Hand" pitchFamily="34" charset="-120"/>
              </a:rPr>
              <a:t>Context persists across all agent interactions</a:t>
            </a:r>
            <a:endParaRPr lang="en-US" sz="8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0023" y="4071565"/>
            <a:ext cx="1987079" cy="385390"/>
          </a:xfrm>
          <a:prstGeom prst="rect">
            <a:avLst/>
          </a:prstGeom>
        </p:spPr>
      </p:pic>
      <p:sp>
        <p:nvSpPr>
          <p:cNvPr id="20" name="Text 12"/>
          <p:cNvSpPr/>
          <p:nvPr/>
        </p:nvSpPr>
        <p:spPr>
          <a:xfrm>
            <a:off x="664741" y="4158183"/>
            <a:ext cx="1775743" cy="96441"/>
          </a:xfrm>
          <a:prstGeom prst="rect">
            <a:avLst/>
          </a:prstGeom>
          <a:noFill/>
          <a:ln/>
        </p:spPr>
        <p:txBody>
          <a:bodyPr wrap="none" lIns="0" tIns="0" rIns="0" bIns="0" rtlCol="0" anchor="t"/>
          <a:lstStyle/>
          <a:p>
            <a:pPr marL="0" indent="0" algn="l">
              <a:lnSpc>
                <a:spcPct val="104000"/>
              </a:lnSpc>
              <a:buNone/>
            </a:pPr>
            <a:r>
              <a:rPr lang="en-US" sz="800" dirty="0">
                <a:solidFill>
                  <a:srgbClr val="383838"/>
                </a:solidFill>
                <a:latin typeface="Patrick Hand" pitchFamily="34" charset="0"/>
                <a:ea typeface="Patrick Hand" pitchFamily="34" charset="-122"/>
                <a:cs typeface="Patrick Hand" pitchFamily="34" charset="-120"/>
              </a:rPr>
              <a:t>Human-in-the-Loop</a:t>
            </a:r>
            <a:endParaRPr lang="en-US" sz="800" dirty="0"/>
          </a:p>
        </p:txBody>
      </p:sp>
      <p:sp>
        <p:nvSpPr>
          <p:cNvPr id="21" name="Text 13"/>
          <p:cNvSpPr/>
          <p:nvPr/>
        </p:nvSpPr>
        <p:spPr>
          <a:xfrm>
            <a:off x="664741" y="4277767"/>
            <a:ext cx="1775743" cy="92571"/>
          </a:xfrm>
          <a:prstGeom prst="rect">
            <a:avLst/>
          </a:prstGeom>
          <a:noFill/>
          <a:ln/>
        </p:spPr>
        <p:txBody>
          <a:bodyPr wrap="none" lIns="0" tIns="0" rIns="0" bIns="0" rtlCol="0" anchor="t"/>
          <a:lstStyle/>
          <a:p>
            <a:pPr marL="0" indent="0" algn="l">
              <a:lnSpc>
                <a:spcPct val="100000"/>
              </a:lnSpc>
              <a:buNone/>
            </a:pPr>
            <a:r>
              <a:rPr lang="en-US" sz="800" dirty="0">
                <a:solidFill>
                  <a:srgbClr val="383838"/>
                </a:solidFill>
                <a:latin typeface="Patrick Hand" pitchFamily="34" charset="0"/>
                <a:ea typeface="Patrick Hand" pitchFamily="34" charset="-122"/>
                <a:cs typeface="Patrick Hand" pitchFamily="34" charset="-120"/>
              </a:rPr>
              <a:t>Critical actions require developer approval</a:t>
            </a:r>
            <a:endParaRPr lang="en-US" sz="800" dirty="0"/>
          </a:p>
        </p:txBody>
      </p:sp>
      <p:sp>
        <p:nvSpPr>
          <p:cNvPr id="28" name="Rectangle 27">
            <a:extLst>
              <a:ext uri="{FF2B5EF4-FFF2-40B4-BE49-F238E27FC236}">
                <a16:creationId xmlns:a16="http://schemas.microsoft.com/office/drawing/2014/main" id="{311B94D5-B9C9-FEB3-1B9E-676FACC60D84}"/>
              </a:ext>
            </a:extLst>
          </p:cNvPr>
          <p:cNvSpPr/>
          <p:nvPr/>
        </p:nvSpPr>
        <p:spPr>
          <a:xfrm>
            <a:off x="8066098" y="4862670"/>
            <a:ext cx="1077902" cy="207838"/>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0023" y="424309"/>
            <a:ext cx="626864" cy="117202"/>
          </a:xfrm>
          <a:prstGeom prst="roundRect">
            <a:avLst>
              <a:gd name="adj" fmla="val 22118"/>
            </a:avLst>
          </a:prstGeom>
          <a:solidFill>
            <a:srgbClr val="E6E6E6"/>
          </a:solidFill>
          <a:ln/>
        </p:spPr>
      </p:sp>
      <p:sp>
        <p:nvSpPr>
          <p:cNvPr id="3" name="Text 1"/>
          <p:cNvSpPr/>
          <p:nvPr/>
        </p:nvSpPr>
        <p:spPr>
          <a:xfrm>
            <a:off x="586308" y="447452"/>
            <a:ext cx="991493" cy="70917"/>
          </a:xfrm>
          <a:prstGeom prst="rect">
            <a:avLst/>
          </a:prstGeom>
          <a:noFill/>
          <a:ln/>
        </p:spPr>
        <p:txBody>
          <a:bodyPr wrap="none" lIns="0" tIns="0" rIns="0" bIns="0" rtlCol="0" anchor="t"/>
          <a:lstStyle/>
          <a:p>
            <a:pPr marL="0" indent="0" algn="l">
              <a:lnSpc>
                <a:spcPct val="96000"/>
              </a:lnSpc>
              <a:buNone/>
            </a:pPr>
            <a:r>
              <a:rPr lang="en-US" sz="450" dirty="0">
                <a:solidFill>
                  <a:srgbClr val="383838"/>
                </a:solidFill>
                <a:latin typeface="Patrick Hand" pitchFamily="34" charset="0"/>
                <a:ea typeface="Patrick Hand" pitchFamily="34" charset="-122"/>
                <a:cs typeface="Patrick Hand" pitchFamily="34" charset="-120"/>
              </a:rPr>
              <a:t>SYSTEM ARCHITECTURE</a:t>
            </a:r>
            <a:endParaRPr lang="en-US" sz="450" dirty="0"/>
          </a:p>
        </p:txBody>
      </p:sp>
      <p:sp>
        <p:nvSpPr>
          <p:cNvPr id="4" name="Text 2"/>
          <p:cNvSpPr/>
          <p:nvPr/>
        </p:nvSpPr>
        <p:spPr>
          <a:xfrm>
            <a:off x="540023" y="556915"/>
            <a:ext cx="8063954" cy="192881"/>
          </a:xfrm>
          <a:prstGeom prst="rect">
            <a:avLst/>
          </a:prstGeom>
          <a:noFill/>
          <a:ln/>
        </p:spPr>
        <p:txBody>
          <a:bodyPr wrap="none" lIns="0" tIns="0" rIns="0" bIns="0" rtlCol="0" anchor="t"/>
          <a:lstStyle/>
          <a:p>
            <a:pPr marL="0" indent="0" algn="l">
              <a:lnSpc>
                <a:spcPct val="104000"/>
              </a:lnSpc>
              <a:buNone/>
            </a:pPr>
            <a:r>
              <a:rPr lang="en-US" sz="1600" dirty="0">
                <a:solidFill>
                  <a:srgbClr val="383838"/>
                </a:solidFill>
                <a:latin typeface="Patrick Hand" pitchFamily="34" charset="0"/>
                <a:ea typeface="Patrick Hand" pitchFamily="34" charset="-122"/>
                <a:cs typeface="Patrick Hand" pitchFamily="34" charset="-120"/>
              </a:rPr>
              <a:t>Multi-Agent Architecture</a:t>
            </a:r>
            <a:endParaRPr lang="en-US" sz="1600" dirty="0"/>
          </a:p>
        </p:txBody>
      </p:sp>
      <p:sp>
        <p:nvSpPr>
          <p:cNvPr id="5" name="Text 3"/>
          <p:cNvSpPr/>
          <p:nvPr/>
        </p:nvSpPr>
        <p:spPr>
          <a:xfrm>
            <a:off x="540023" y="807616"/>
            <a:ext cx="8063954" cy="185142"/>
          </a:xfrm>
          <a:prstGeom prst="rect">
            <a:avLst/>
          </a:prstGeom>
          <a:noFill/>
          <a:ln/>
        </p:spPr>
        <p:txBody>
          <a:bodyPr wrap="square" lIns="0" tIns="0" rIns="0" bIns="0" rtlCol="0" anchor="t">
            <a:noAutofit/>
          </a:bodyPr>
          <a:lstStyle/>
          <a:p>
            <a:pPr marL="0" indent="0" algn="l">
              <a:lnSpc>
                <a:spcPct val="100000"/>
              </a:lnSpc>
              <a:buNone/>
            </a:pPr>
            <a:r>
              <a:rPr lang="en-US" sz="1200" dirty="0">
                <a:solidFill>
                  <a:srgbClr val="383838"/>
                </a:solidFill>
                <a:latin typeface="Patrick Hand" pitchFamily="34" charset="0"/>
                <a:ea typeface="Patrick Hand" pitchFamily="34" charset="-122"/>
                <a:cs typeface="Patrick Hand" pitchFamily="34" charset="-120"/>
              </a:rPr>
              <a:t>DevPilot AI orchestrates seven specialized agents in a structured pipeline. The Triage Agent acts as the entry point, routing each request to the right specialist. A reflection loop between the Coding Assistant and Code Reviewer ensures iterative quality improvement. Testing and Documentation execute in parallel to save time, while the Bug Investigation Agent activates only when failures are detected. Shared memory threads context across all agents, and human approval gates protect critical decisions.</a:t>
            </a:r>
            <a:endParaRPr lang="en-US" sz="1200" dirty="0"/>
          </a:p>
        </p:txBody>
      </p:sp>
      <p:pic>
        <p:nvPicPr>
          <p:cNvPr id="6" name="Image 0" descr="preencoded.png"/>
          <p:cNvPicPr>
            <a:picLocks noChangeAspect="1"/>
          </p:cNvPicPr>
          <p:nvPr/>
        </p:nvPicPr>
        <p:blipFill>
          <a:blip r:embed="rId3"/>
          <a:stretch>
            <a:fillRect/>
          </a:stretch>
        </p:blipFill>
        <p:spPr>
          <a:xfrm>
            <a:off x="540023" y="1810633"/>
            <a:ext cx="7526075" cy="3052037"/>
          </a:xfrm>
          <a:prstGeom prst="rect">
            <a:avLst/>
          </a:prstGeom>
        </p:spPr>
      </p:pic>
      <p:sp>
        <p:nvSpPr>
          <p:cNvPr id="7" name="Shape 4"/>
          <p:cNvSpPr/>
          <p:nvPr/>
        </p:nvSpPr>
        <p:spPr>
          <a:xfrm>
            <a:off x="540023" y="5194325"/>
            <a:ext cx="8063954" cy="296912"/>
          </a:xfrm>
          <a:prstGeom prst="roundRect">
            <a:avLst>
              <a:gd name="adj" fmla="val 10914"/>
            </a:avLst>
          </a:prstGeom>
          <a:solidFill>
            <a:srgbClr val="E6E6E6"/>
          </a:solidFill>
          <a:ln/>
        </p:spPr>
      </p:sp>
      <p:pic>
        <p:nvPicPr>
          <p:cNvPr id="8" name="Image 1" descr="preencoded.png"/>
          <p:cNvPicPr>
            <a:picLocks noChangeAspect="1"/>
          </p:cNvPicPr>
          <p:nvPr/>
        </p:nvPicPr>
        <p:blipFill>
          <a:blip r:embed="rId4"/>
          <a:stretch>
            <a:fillRect/>
          </a:stretch>
        </p:blipFill>
        <p:spPr>
          <a:xfrm>
            <a:off x="617116" y="5290691"/>
            <a:ext cx="96441" cy="77093"/>
          </a:xfrm>
          <a:prstGeom prst="rect">
            <a:avLst/>
          </a:prstGeom>
        </p:spPr>
      </p:pic>
      <p:sp>
        <p:nvSpPr>
          <p:cNvPr id="9" name="Text 5"/>
          <p:cNvSpPr/>
          <p:nvPr/>
        </p:nvSpPr>
        <p:spPr>
          <a:xfrm>
            <a:off x="790649" y="5252145"/>
            <a:ext cx="7736235" cy="185142"/>
          </a:xfrm>
          <a:prstGeom prst="rect">
            <a:avLst/>
          </a:prstGeom>
          <a:noFill/>
          <a:ln/>
        </p:spPr>
        <p:txBody>
          <a:bodyPr wrap="square" lIns="0" tIns="0" rIns="0" bIns="0" rtlCol="0" anchor="t">
            <a:normAutofit/>
          </a:bodyPr>
          <a:lstStyle/>
          <a:p>
            <a:pPr marL="0" indent="0" algn="l">
              <a:lnSpc>
                <a:spcPct val="100000"/>
              </a:lnSpc>
              <a:buNone/>
            </a:pPr>
            <a:r>
              <a:rPr lang="en-US" sz="600" b="1" dirty="0">
                <a:solidFill>
                  <a:srgbClr val="000000"/>
                </a:solidFill>
                <a:latin typeface="Patrick Hand" pitchFamily="34" charset="0"/>
                <a:ea typeface="Patrick Hand" pitchFamily="34" charset="-122"/>
                <a:cs typeface="Patrick Hand" pitchFamily="34" charset="-120"/>
              </a:rPr>
              <a:t>Speaker Notes:</a:t>
            </a:r>
            <a:r>
              <a:rPr lang="en-US" sz="600" dirty="0">
                <a:solidFill>
                  <a:srgbClr val="000000"/>
                </a:solidFill>
                <a:latin typeface="Patrick Hand" pitchFamily="34" charset="0"/>
                <a:ea typeface="Patrick Hand" pitchFamily="34" charset="-122"/>
                <a:cs typeface="Patrick Hand" pitchFamily="34" charset="-120"/>
              </a:rPr>
              <a:t> Walk through the pipeline left to right. Highlight the reflection loop between Coding Assistant and Code Reviewer — this is what differentiates DevPilot from a simple code generator. Note the parallel Testing and Documentation stage, and the conditional Bug Investigation step. Mention the human approval gate before testing begins.</a:t>
            </a:r>
            <a:endParaRPr lang="en-US" sz="600" dirty="0"/>
          </a:p>
        </p:txBody>
      </p:sp>
      <p:sp>
        <p:nvSpPr>
          <p:cNvPr id="13" name="Rectangle 12">
            <a:extLst>
              <a:ext uri="{FF2B5EF4-FFF2-40B4-BE49-F238E27FC236}">
                <a16:creationId xmlns:a16="http://schemas.microsoft.com/office/drawing/2014/main" id="{F0E5BB00-1982-B5FF-EE61-B51134251698}"/>
              </a:ext>
            </a:extLst>
          </p:cNvPr>
          <p:cNvSpPr/>
          <p:nvPr/>
        </p:nvSpPr>
        <p:spPr>
          <a:xfrm>
            <a:off x="8066098" y="4862670"/>
            <a:ext cx="1077902" cy="207838"/>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0023" y="437257"/>
            <a:ext cx="513308" cy="183207"/>
          </a:xfrm>
          <a:prstGeom prst="roundRect">
            <a:avLst>
              <a:gd name="adj" fmla="val 22109"/>
            </a:avLst>
          </a:prstGeom>
          <a:solidFill>
            <a:srgbClr val="E6E6E6"/>
          </a:solidFill>
          <a:ln/>
        </p:spPr>
      </p:sp>
      <p:sp>
        <p:nvSpPr>
          <p:cNvPr id="3" name="Text 1"/>
          <p:cNvSpPr/>
          <p:nvPr/>
        </p:nvSpPr>
        <p:spPr>
          <a:xfrm>
            <a:off x="612353" y="473422"/>
            <a:ext cx="825847" cy="110877"/>
          </a:xfrm>
          <a:prstGeom prst="rect">
            <a:avLst/>
          </a:prstGeom>
          <a:noFill/>
          <a:ln/>
        </p:spPr>
        <p:txBody>
          <a:bodyPr wrap="none" lIns="0" tIns="0" rIns="0" bIns="0" rtlCol="0" anchor="t"/>
          <a:lstStyle/>
          <a:p>
            <a:pPr marL="0" indent="0" algn="l">
              <a:lnSpc>
                <a:spcPct val="96000"/>
              </a:lnSpc>
              <a:buNone/>
            </a:pPr>
            <a:r>
              <a:rPr lang="en-US" sz="750" dirty="0">
                <a:solidFill>
                  <a:srgbClr val="383838"/>
                </a:solidFill>
                <a:latin typeface="Patrick Hand" pitchFamily="34" charset="0"/>
                <a:ea typeface="Patrick Hand" pitchFamily="34" charset="-122"/>
                <a:cs typeface="Patrick Hand" pitchFamily="34" charset="-120"/>
              </a:rPr>
              <a:t>AI AGENTS</a:t>
            </a:r>
            <a:endParaRPr lang="en-US" sz="750" dirty="0"/>
          </a:p>
        </p:txBody>
      </p:sp>
      <p:sp>
        <p:nvSpPr>
          <p:cNvPr id="4" name="Text 2"/>
          <p:cNvSpPr/>
          <p:nvPr/>
        </p:nvSpPr>
        <p:spPr>
          <a:xfrm>
            <a:off x="540023" y="658118"/>
            <a:ext cx="8063954" cy="301377"/>
          </a:xfrm>
          <a:prstGeom prst="rect">
            <a:avLst/>
          </a:prstGeom>
          <a:noFill/>
          <a:ln/>
        </p:spPr>
        <p:txBody>
          <a:bodyPr wrap="none" lIns="0" tIns="0" rIns="0" bIns="0" rtlCol="0" anchor="t"/>
          <a:lstStyle/>
          <a:p>
            <a:pPr marL="0" indent="0" algn="l">
              <a:lnSpc>
                <a:spcPct val="104000"/>
              </a:lnSpc>
              <a:buNone/>
            </a:pPr>
            <a:r>
              <a:rPr lang="en-US" sz="1850" dirty="0">
                <a:solidFill>
                  <a:srgbClr val="383838"/>
                </a:solidFill>
                <a:latin typeface="Patrick Hand" pitchFamily="34" charset="0"/>
                <a:ea typeface="Patrick Hand" pitchFamily="34" charset="-122"/>
                <a:cs typeface="Patrick Hand" pitchFamily="34" charset="-120"/>
              </a:rPr>
              <a:t>Specialized AI Agents</a:t>
            </a:r>
            <a:endParaRPr lang="en-US" sz="1850" dirty="0"/>
          </a:p>
        </p:txBody>
      </p:sp>
      <p:pic>
        <p:nvPicPr>
          <p:cNvPr id="5" name="Image 0" descr="preencoded.png"/>
          <p:cNvPicPr>
            <a:picLocks noChangeAspect="1"/>
          </p:cNvPicPr>
          <p:nvPr/>
        </p:nvPicPr>
        <p:blipFill>
          <a:blip r:embed="rId3"/>
          <a:stretch>
            <a:fillRect/>
          </a:stretch>
        </p:blipFill>
        <p:spPr>
          <a:xfrm>
            <a:off x="540023" y="1100733"/>
            <a:ext cx="848171" cy="524173"/>
          </a:xfrm>
          <a:prstGeom prst="rect">
            <a:avLst/>
          </a:prstGeom>
        </p:spPr>
      </p:pic>
      <p:sp>
        <p:nvSpPr>
          <p:cNvPr id="6" name="Text 3"/>
          <p:cNvSpPr/>
          <p:nvPr/>
        </p:nvSpPr>
        <p:spPr>
          <a:xfrm>
            <a:off x="540023" y="1742629"/>
            <a:ext cx="1927696" cy="150688"/>
          </a:xfrm>
          <a:prstGeom prst="rect">
            <a:avLst/>
          </a:prstGeom>
          <a:noFill/>
          <a:ln/>
        </p:spPr>
        <p:txBody>
          <a:bodyPr wrap="none" lIns="0" tIns="0" rIns="0" bIns="0" rtlCol="0" anchor="t"/>
          <a:lstStyle/>
          <a:p>
            <a:pPr marL="0" indent="0" algn="l">
              <a:lnSpc>
                <a:spcPct val="104000"/>
              </a:lnSpc>
              <a:buNone/>
            </a:pPr>
            <a:r>
              <a:rPr lang="en-US" sz="900" dirty="0">
                <a:solidFill>
                  <a:srgbClr val="383838"/>
                </a:solidFill>
                <a:latin typeface="Patrick Hand" pitchFamily="34" charset="0"/>
                <a:ea typeface="Patrick Hand" pitchFamily="34" charset="-122"/>
                <a:cs typeface="Patrick Hand" pitchFamily="34" charset="-120"/>
              </a:rPr>
              <a:t>Requirements Analysis</a:t>
            </a:r>
            <a:endParaRPr lang="en-US" sz="900" dirty="0"/>
          </a:p>
        </p:txBody>
      </p:sp>
      <p:sp>
        <p:nvSpPr>
          <p:cNvPr id="7" name="Text 4"/>
          <p:cNvSpPr/>
          <p:nvPr/>
        </p:nvSpPr>
        <p:spPr>
          <a:xfrm>
            <a:off x="540023" y="1949797"/>
            <a:ext cx="1927696" cy="515243"/>
          </a:xfrm>
          <a:prstGeom prst="rect">
            <a:avLst/>
          </a:prstGeom>
          <a:noFill/>
          <a:ln/>
        </p:spPr>
        <p:txBody>
          <a:bodyPr wrap="square" lIns="0" tIns="0" rIns="0" bIns="0" rtlCol="0" anchor="t">
            <a:normAutofit/>
          </a:bodyPr>
          <a:lstStyle/>
          <a:p>
            <a:pPr marL="0" indent="0" algn="l">
              <a:lnSpc>
                <a:spcPct val="119000"/>
              </a:lnSpc>
              <a:buNone/>
            </a:pPr>
            <a:r>
              <a:rPr lang="en-US" sz="900" dirty="0">
                <a:solidFill>
                  <a:srgbClr val="383838"/>
                </a:solidFill>
                <a:latin typeface="Patrick Hand" pitchFamily="34" charset="0"/>
                <a:ea typeface="Patrick Hand" pitchFamily="34" charset="-122"/>
                <a:cs typeface="Patrick Hand" pitchFamily="34" charset="-120"/>
              </a:rPr>
              <a:t>Understands user needs, creates implementation plans, and generates acceptance criteria</a:t>
            </a:r>
            <a:endParaRPr lang="en-US" sz="900" dirty="0"/>
          </a:p>
        </p:txBody>
      </p:sp>
      <p:pic>
        <p:nvPicPr>
          <p:cNvPr id="8" name="Image 1" descr="preencoded.png"/>
          <p:cNvPicPr>
            <a:picLocks noChangeAspect="1"/>
          </p:cNvPicPr>
          <p:nvPr/>
        </p:nvPicPr>
        <p:blipFill>
          <a:blip r:embed="rId4"/>
          <a:stretch>
            <a:fillRect/>
          </a:stretch>
        </p:blipFill>
        <p:spPr>
          <a:xfrm>
            <a:off x="2585442" y="1100733"/>
            <a:ext cx="848171" cy="524173"/>
          </a:xfrm>
          <a:prstGeom prst="rect">
            <a:avLst/>
          </a:prstGeom>
        </p:spPr>
      </p:pic>
      <p:sp>
        <p:nvSpPr>
          <p:cNvPr id="9" name="Text 5"/>
          <p:cNvSpPr/>
          <p:nvPr/>
        </p:nvSpPr>
        <p:spPr>
          <a:xfrm>
            <a:off x="2585442" y="1742629"/>
            <a:ext cx="1927696" cy="150688"/>
          </a:xfrm>
          <a:prstGeom prst="rect">
            <a:avLst/>
          </a:prstGeom>
          <a:noFill/>
          <a:ln/>
        </p:spPr>
        <p:txBody>
          <a:bodyPr wrap="none" lIns="0" tIns="0" rIns="0" bIns="0" rtlCol="0" anchor="t"/>
          <a:lstStyle/>
          <a:p>
            <a:pPr marL="0" indent="0" algn="l">
              <a:lnSpc>
                <a:spcPct val="104000"/>
              </a:lnSpc>
              <a:buNone/>
            </a:pPr>
            <a:r>
              <a:rPr lang="en-US" sz="900" dirty="0">
                <a:solidFill>
                  <a:srgbClr val="383838"/>
                </a:solidFill>
                <a:latin typeface="Patrick Hand" pitchFamily="34" charset="0"/>
                <a:ea typeface="Patrick Hand" pitchFamily="34" charset="-122"/>
                <a:cs typeface="Patrick Hand" pitchFamily="34" charset="-120"/>
              </a:rPr>
              <a:t>Coding Assistant</a:t>
            </a:r>
            <a:endParaRPr lang="en-US" sz="900" dirty="0"/>
          </a:p>
        </p:txBody>
      </p:sp>
      <p:sp>
        <p:nvSpPr>
          <p:cNvPr id="10" name="Text 6"/>
          <p:cNvSpPr/>
          <p:nvPr/>
        </p:nvSpPr>
        <p:spPr>
          <a:xfrm>
            <a:off x="2585442" y="1949797"/>
            <a:ext cx="1927696" cy="343495"/>
          </a:xfrm>
          <a:prstGeom prst="rect">
            <a:avLst/>
          </a:prstGeom>
          <a:noFill/>
          <a:ln/>
        </p:spPr>
        <p:txBody>
          <a:bodyPr wrap="square" lIns="0" tIns="0" rIns="0" bIns="0" rtlCol="0" anchor="t">
            <a:normAutofit/>
          </a:bodyPr>
          <a:lstStyle/>
          <a:p>
            <a:pPr marL="0" indent="0" algn="l">
              <a:lnSpc>
                <a:spcPct val="119000"/>
              </a:lnSpc>
              <a:buNone/>
            </a:pPr>
            <a:r>
              <a:rPr lang="en-US" sz="900" dirty="0">
                <a:solidFill>
                  <a:srgbClr val="383838"/>
                </a:solidFill>
                <a:latin typeface="Patrick Hand" pitchFamily="34" charset="0"/>
                <a:ea typeface="Patrick Hand" pitchFamily="34" charset="-122"/>
                <a:cs typeface="Patrick Hand" pitchFamily="34" charset="-120"/>
              </a:rPr>
              <a:t>Generates production-ready Python code with pre-submission linting</a:t>
            </a:r>
            <a:endParaRPr lang="en-US" sz="900" dirty="0"/>
          </a:p>
        </p:txBody>
      </p:sp>
      <p:pic>
        <p:nvPicPr>
          <p:cNvPr id="11" name="Image 2" descr="preencoded.png"/>
          <p:cNvPicPr>
            <a:picLocks noChangeAspect="1"/>
          </p:cNvPicPr>
          <p:nvPr/>
        </p:nvPicPr>
        <p:blipFill>
          <a:blip r:embed="rId5"/>
          <a:stretch>
            <a:fillRect/>
          </a:stretch>
        </p:blipFill>
        <p:spPr>
          <a:xfrm>
            <a:off x="4630862" y="1100733"/>
            <a:ext cx="848171" cy="524173"/>
          </a:xfrm>
          <a:prstGeom prst="rect">
            <a:avLst/>
          </a:prstGeom>
        </p:spPr>
      </p:pic>
      <p:sp>
        <p:nvSpPr>
          <p:cNvPr id="12" name="Text 7"/>
          <p:cNvSpPr/>
          <p:nvPr/>
        </p:nvSpPr>
        <p:spPr>
          <a:xfrm>
            <a:off x="4630862" y="1742629"/>
            <a:ext cx="1927696" cy="150688"/>
          </a:xfrm>
          <a:prstGeom prst="rect">
            <a:avLst/>
          </a:prstGeom>
          <a:noFill/>
          <a:ln/>
        </p:spPr>
        <p:txBody>
          <a:bodyPr wrap="none" lIns="0" tIns="0" rIns="0" bIns="0" rtlCol="0" anchor="t"/>
          <a:lstStyle/>
          <a:p>
            <a:pPr marL="0" indent="0" algn="l">
              <a:lnSpc>
                <a:spcPct val="104000"/>
              </a:lnSpc>
              <a:buNone/>
            </a:pPr>
            <a:r>
              <a:rPr lang="en-US" sz="900" dirty="0">
                <a:solidFill>
                  <a:srgbClr val="383838"/>
                </a:solidFill>
                <a:latin typeface="Patrick Hand" pitchFamily="34" charset="0"/>
                <a:ea typeface="Patrick Hand" pitchFamily="34" charset="-122"/>
                <a:cs typeface="Patrick Hand" pitchFamily="34" charset="-120"/>
              </a:rPr>
              <a:t>Code Reviewer</a:t>
            </a:r>
            <a:endParaRPr lang="en-US" sz="900" dirty="0"/>
          </a:p>
        </p:txBody>
      </p:sp>
      <p:sp>
        <p:nvSpPr>
          <p:cNvPr id="13" name="Text 8"/>
          <p:cNvSpPr/>
          <p:nvPr/>
        </p:nvSpPr>
        <p:spPr>
          <a:xfrm>
            <a:off x="4630862" y="1949797"/>
            <a:ext cx="1927696" cy="343495"/>
          </a:xfrm>
          <a:prstGeom prst="rect">
            <a:avLst/>
          </a:prstGeom>
          <a:noFill/>
          <a:ln/>
        </p:spPr>
        <p:txBody>
          <a:bodyPr wrap="square" lIns="0" tIns="0" rIns="0" bIns="0" rtlCol="0" anchor="t">
            <a:normAutofit/>
          </a:bodyPr>
          <a:lstStyle/>
          <a:p>
            <a:pPr marL="0" indent="0" algn="l">
              <a:lnSpc>
                <a:spcPct val="119000"/>
              </a:lnSpc>
              <a:buNone/>
            </a:pPr>
            <a:r>
              <a:rPr lang="en-US" sz="900" dirty="0">
                <a:solidFill>
                  <a:srgbClr val="383838"/>
                </a:solidFill>
                <a:latin typeface="Patrick Hand" pitchFamily="34" charset="0"/>
                <a:ea typeface="Patrick Hand" pitchFamily="34" charset="-122"/>
                <a:cs typeface="Patrick Hand" pitchFamily="34" charset="-120"/>
              </a:rPr>
              <a:t>Reviews correctness, coding standards, and security vulnerabilities</a:t>
            </a:r>
            <a:endParaRPr lang="en-US" sz="900" dirty="0"/>
          </a:p>
        </p:txBody>
      </p:sp>
      <p:pic>
        <p:nvPicPr>
          <p:cNvPr id="14" name="Image 3" descr="preencoded.png"/>
          <p:cNvPicPr>
            <a:picLocks noChangeAspect="1"/>
          </p:cNvPicPr>
          <p:nvPr/>
        </p:nvPicPr>
        <p:blipFill>
          <a:blip r:embed="rId6"/>
          <a:stretch>
            <a:fillRect/>
          </a:stretch>
        </p:blipFill>
        <p:spPr>
          <a:xfrm>
            <a:off x="6676281" y="1100733"/>
            <a:ext cx="848171" cy="524173"/>
          </a:xfrm>
          <a:prstGeom prst="rect">
            <a:avLst/>
          </a:prstGeom>
        </p:spPr>
      </p:pic>
      <p:sp>
        <p:nvSpPr>
          <p:cNvPr id="15" name="Text 9"/>
          <p:cNvSpPr/>
          <p:nvPr/>
        </p:nvSpPr>
        <p:spPr>
          <a:xfrm>
            <a:off x="6676281" y="1742629"/>
            <a:ext cx="1927696" cy="150688"/>
          </a:xfrm>
          <a:prstGeom prst="rect">
            <a:avLst/>
          </a:prstGeom>
          <a:noFill/>
          <a:ln/>
        </p:spPr>
        <p:txBody>
          <a:bodyPr wrap="none" lIns="0" tIns="0" rIns="0" bIns="0" rtlCol="0" anchor="t"/>
          <a:lstStyle/>
          <a:p>
            <a:pPr marL="0" indent="0" algn="l">
              <a:lnSpc>
                <a:spcPct val="104000"/>
              </a:lnSpc>
              <a:buNone/>
            </a:pPr>
            <a:r>
              <a:rPr lang="en-US" sz="900" dirty="0">
                <a:solidFill>
                  <a:srgbClr val="383838"/>
                </a:solidFill>
                <a:latin typeface="Patrick Hand" pitchFamily="34" charset="0"/>
                <a:ea typeface="Patrick Hand" pitchFamily="34" charset="-122"/>
                <a:cs typeface="Patrick Hand" pitchFamily="34" charset="-120"/>
              </a:rPr>
              <a:t>Testing Agent</a:t>
            </a:r>
            <a:endParaRPr lang="en-US" sz="900" dirty="0"/>
          </a:p>
        </p:txBody>
      </p:sp>
      <p:sp>
        <p:nvSpPr>
          <p:cNvPr id="16" name="Text 10"/>
          <p:cNvSpPr/>
          <p:nvPr/>
        </p:nvSpPr>
        <p:spPr>
          <a:xfrm>
            <a:off x="6676281" y="1949797"/>
            <a:ext cx="1927696" cy="343495"/>
          </a:xfrm>
          <a:prstGeom prst="rect">
            <a:avLst/>
          </a:prstGeom>
          <a:noFill/>
          <a:ln/>
        </p:spPr>
        <p:txBody>
          <a:bodyPr wrap="square" lIns="0" tIns="0" rIns="0" bIns="0" rtlCol="0" anchor="t">
            <a:normAutofit/>
          </a:bodyPr>
          <a:lstStyle/>
          <a:p>
            <a:pPr marL="0" indent="0" algn="l">
              <a:lnSpc>
                <a:spcPct val="119000"/>
              </a:lnSpc>
              <a:buNone/>
            </a:pPr>
            <a:r>
              <a:rPr lang="en-US" sz="900" dirty="0">
                <a:solidFill>
                  <a:srgbClr val="383838"/>
                </a:solidFill>
                <a:latin typeface="Patrick Hand" pitchFamily="34" charset="0"/>
                <a:ea typeface="Patrick Hand" pitchFamily="34" charset="-122"/>
                <a:cs typeface="Patrick Hand" pitchFamily="34" charset="-120"/>
              </a:rPr>
              <a:t>Generates PyTest cases, executes tests, and produces structured reports</a:t>
            </a:r>
            <a:endParaRPr lang="en-US" sz="900" dirty="0"/>
          </a:p>
        </p:txBody>
      </p:sp>
      <p:pic>
        <p:nvPicPr>
          <p:cNvPr id="17" name="Image 4" descr="preencoded.png"/>
          <p:cNvPicPr>
            <a:picLocks noChangeAspect="1"/>
          </p:cNvPicPr>
          <p:nvPr/>
        </p:nvPicPr>
        <p:blipFill>
          <a:blip r:embed="rId7"/>
          <a:stretch>
            <a:fillRect/>
          </a:stretch>
        </p:blipFill>
        <p:spPr>
          <a:xfrm>
            <a:off x="540023" y="2653382"/>
            <a:ext cx="848171" cy="524173"/>
          </a:xfrm>
          <a:prstGeom prst="rect">
            <a:avLst/>
          </a:prstGeom>
        </p:spPr>
      </p:pic>
      <p:sp>
        <p:nvSpPr>
          <p:cNvPr id="18" name="Text 11"/>
          <p:cNvSpPr/>
          <p:nvPr/>
        </p:nvSpPr>
        <p:spPr>
          <a:xfrm>
            <a:off x="540023" y="3295278"/>
            <a:ext cx="1927696" cy="150688"/>
          </a:xfrm>
          <a:prstGeom prst="rect">
            <a:avLst/>
          </a:prstGeom>
          <a:noFill/>
          <a:ln/>
        </p:spPr>
        <p:txBody>
          <a:bodyPr wrap="none" lIns="0" tIns="0" rIns="0" bIns="0" rtlCol="0" anchor="t"/>
          <a:lstStyle/>
          <a:p>
            <a:pPr marL="0" indent="0" algn="l">
              <a:lnSpc>
                <a:spcPct val="104000"/>
              </a:lnSpc>
              <a:buNone/>
            </a:pPr>
            <a:r>
              <a:rPr lang="en-US" sz="900" dirty="0">
                <a:solidFill>
                  <a:srgbClr val="383838"/>
                </a:solidFill>
                <a:latin typeface="Patrick Hand" pitchFamily="34" charset="0"/>
                <a:ea typeface="Patrick Hand" pitchFamily="34" charset="-122"/>
                <a:cs typeface="Patrick Hand" pitchFamily="34" charset="-120"/>
              </a:rPr>
              <a:t>Documentation Writer</a:t>
            </a:r>
            <a:endParaRPr lang="en-US" sz="900" dirty="0"/>
          </a:p>
        </p:txBody>
      </p:sp>
      <p:sp>
        <p:nvSpPr>
          <p:cNvPr id="19" name="Text 12"/>
          <p:cNvSpPr/>
          <p:nvPr/>
        </p:nvSpPr>
        <p:spPr>
          <a:xfrm>
            <a:off x="540023" y="3502447"/>
            <a:ext cx="1927696" cy="343495"/>
          </a:xfrm>
          <a:prstGeom prst="rect">
            <a:avLst/>
          </a:prstGeom>
          <a:noFill/>
          <a:ln/>
        </p:spPr>
        <p:txBody>
          <a:bodyPr wrap="square" lIns="0" tIns="0" rIns="0" bIns="0" rtlCol="0" anchor="t">
            <a:normAutofit/>
          </a:bodyPr>
          <a:lstStyle/>
          <a:p>
            <a:pPr marL="0" indent="0" algn="l">
              <a:lnSpc>
                <a:spcPct val="119000"/>
              </a:lnSpc>
              <a:buNone/>
            </a:pPr>
            <a:r>
              <a:rPr lang="en-US" sz="900" dirty="0">
                <a:solidFill>
                  <a:srgbClr val="383838"/>
                </a:solidFill>
                <a:latin typeface="Patrick Hand" pitchFamily="34" charset="0"/>
                <a:ea typeface="Patrick Hand" pitchFamily="34" charset="-122"/>
                <a:cs typeface="Patrick Hand" pitchFamily="34" charset="-120"/>
              </a:rPr>
              <a:t>Creates README files, installation guides, and user documentation</a:t>
            </a:r>
            <a:endParaRPr lang="en-US" sz="900" dirty="0"/>
          </a:p>
        </p:txBody>
      </p:sp>
      <p:pic>
        <p:nvPicPr>
          <p:cNvPr id="20" name="Image 5" descr="preencoded.png"/>
          <p:cNvPicPr>
            <a:picLocks noChangeAspect="1"/>
          </p:cNvPicPr>
          <p:nvPr/>
        </p:nvPicPr>
        <p:blipFill>
          <a:blip r:embed="rId8"/>
          <a:stretch>
            <a:fillRect/>
          </a:stretch>
        </p:blipFill>
        <p:spPr>
          <a:xfrm>
            <a:off x="2585442" y="2653382"/>
            <a:ext cx="848171" cy="524173"/>
          </a:xfrm>
          <a:prstGeom prst="rect">
            <a:avLst/>
          </a:prstGeom>
        </p:spPr>
      </p:pic>
      <p:sp>
        <p:nvSpPr>
          <p:cNvPr id="21" name="Text 13"/>
          <p:cNvSpPr/>
          <p:nvPr/>
        </p:nvSpPr>
        <p:spPr>
          <a:xfrm>
            <a:off x="2585442" y="3295278"/>
            <a:ext cx="1927696" cy="150688"/>
          </a:xfrm>
          <a:prstGeom prst="rect">
            <a:avLst/>
          </a:prstGeom>
          <a:noFill/>
          <a:ln/>
        </p:spPr>
        <p:txBody>
          <a:bodyPr wrap="none" lIns="0" tIns="0" rIns="0" bIns="0" rtlCol="0" anchor="t"/>
          <a:lstStyle/>
          <a:p>
            <a:pPr marL="0" indent="0" algn="l">
              <a:lnSpc>
                <a:spcPct val="104000"/>
              </a:lnSpc>
              <a:buNone/>
            </a:pPr>
            <a:r>
              <a:rPr lang="en-US" sz="900" dirty="0">
                <a:solidFill>
                  <a:srgbClr val="383838"/>
                </a:solidFill>
                <a:latin typeface="Patrick Hand" pitchFamily="34" charset="0"/>
                <a:ea typeface="Patrick Hand" pitchFamily="34" charset="-122"/>
                <a:cs typeface="Patrick Hand" pitchFamily="34" charset="-120"/>
              </a:rPr>
              <a:t>Bug Investigation</a:t>
            </a:r>
            <a:endParaRPr lang="en-US" sz="900" dirty="0"/>
          </a:p>
        </p:txBody>
      </p:sp>
      <p:sp>
        <p:nvSpPr>
          <p:cNvPr id="22" name="Text 14"/>
          <p:cNvSpPr/>
          <p:nvPr/>
        </p:nvSpPr>
        <p:spPr>
          <a:xfrm>
            <a:off x="2585442" y="3502447"/>
            <a:ext cx="1927696" cy="343495"/>
          </a:xfrm>
          <a:prstGeom prst="rect">
            <a:avLst/>
          </a:prstGeom>
          <a:noFill/>
          <a:ln/>
        </p:spPr>
        <p:txBody>
          <a:bodyPr wrap="square" lIns="0" tIns="0" rIns="0" bIns="0" rtlCol="0" anchor="t">
            <a:normAutofit/>
          </a:bodyPr>
          <a:lstStyle/>
          <a:p>
            <a:pPr marL="0" indent="0" algn="l">
              <a:lnSpc>
                <a:spcPct val="119000"/>
              </a:lnSpc>
              <a:buNone/>
            </a:pPr>
            <a:r>
              <a:rPr lang="en-US" sz="900" dirty="0">
                <a:solidFill>
                  <a:srgbClr val="383838"/>
                </a:solidFill>
                <a:latin typeface="Patrick Hand" pitchFamily="34" charset="0"/>
                <a:ea typeface="Patrick Hand" pitchFamily="34" charset="-122"/>
                <a:cs typeface="Patrick Hand" pitchFamily="34" charset="-120"/>
              </a:rPr>
              <a:t>Investigates failures, finds root causes, suggests fixes, and searches GitHub issues</a:t>
            </a:r>
            <a:endParaRPr lang="en-US" sz="900" dirty="0"/>
          </a:p>
        </p:txBody>
      </p:sp>
      <p:sp>
        <p:nvSpPr>
          <p:cNvPr id="27" name="Rectangle 26">
            <a:extLst>
              <a:ext uri="{FF2B5EF4-FFF2-40B4-BE49-F238E27FC236}">
                <a16:creationId xmlns:a16="http://schemas.microsoft.com/office/drawing/2014/main" id="{B6CFEEEC-70CA-03D5-92FD-455D9C827B04}"/>
              </a:ext>
            </a:extLst>
          </p:cNvPr>
          <p:cNvSpPr/>
          <p:nvPr/>
        </p:nvSpPr>
        <p:spPr>
          <a:xfrm>
            <a:off x="8066098" y="4862670"/>
            <a:ext cx="1077902" cy="207838"/>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0023" y="436290"/>
            <a:ext cx="731862" cy="124495"/>
          </a:xfrm>
          <a:prstGeom prst="roundRect">
            <a:avLst>
              <a:gd name="adj" fmla="val 22124"/>
            </a:avLst>
          </a:prstGeom>
          <a:solidFill>
            <a:srgbClr val="E6E6E6"/>
          </a:solidFill>
          <a:ln/>
        </p:spPr>
      </p:sp>
      <p:sp>
        <p:nvSpPr>
          <p:cNvPr id="3" name="Text 1"/>
          <p:cNvSpPr/>
          <p:nvPr/>
        </p:nvSpPr>
        <p:spPr>
          <a:xfrm>
            <a:off x="589136" y="460846"/>
            <a:ext cx="1090836" cy="75381"/>
          </a:xfrm>
          <a:prstGeom prst="rect">
            <a:avLst/>
          </a:prstGeom>
          <a:noFill/>
          <a:ln/>
        </p:spPr>
        <p:txBody>
          <a:bodyPr wrap="none" lIns="0" tIns="0" rIns="0" bIns="0" rtlCol="0" anchor="t"/>
          <a:lstStyle/>
          <a:p>
            <a:pPr marL="0" indent="0" algn="l">
              <a:lnSpc>
                <a:spcPct val="96000"/>
              </a:lnSpc>
              <a:buNone/>
            </a:pPr>
            <a:r>
              <a:rPr lang="en-US" sz="500" dirty="0">
                <a:solidFill>
                  <a:srgbClr val="383838"/>
                </a:solidFill>
                <a:latin typeface="Patrick Hand" pitchFamily="34" charset="0"/>
                <a:ea typeface="Patrick Hand" pitchFamily="34" charset="-122"/>
                <a:cs typeface="Patrick Hand" pitchFamily="34" charset="-120"/>
              </a:rPr>
              <a:t>DEVELOPMENT WORKFLOW</a:t>
            </a:r>
            <a:endParaRPr lang="en-US" sz="500" dirty="0"/>
          </a:p>
        </p:txBody>
      </p:sp>
      <p:sp>
        <p:nvSpPr>
          <p:cNvPr id="4" name="Text 2"/>
          <p:cNvSpPr/>
          <p:nvPr/>
        </p:nvSpPr>
        <p:spPr>
          <a:xfrm>
            <a:off x="540023" y="578197"/>
            <a:ext cx="8063954" cy="204862"/>
          </a:xfrm>
          <a:prstGeom prst="rect">
            <a:avLst/>
          </a:prstGeom>
          <a:noFill/>
          <a:ln/>
        </p:spPr>
        <p:txBody>
          <a:bodyPr wrap="none" lIns="0" tIns="0" rIns="0" bIns="0" rtlCol="0" anchor="t"/>
          <a:lstStyle/>
          <a:p>
            <a:pPr marL="0" indent="0" algn="l">
              <a:lnSpc>
                <a:spcPct val="104000"/>
              </a:lnSpc>
              <a:buNone/>
            </a:pPr>
            <a:r>
              <a:rPr lang="en-US" sz="1250" dirty="0">
                <a:solidFill>
                  <a:srgbClr val="383838"/>
                </a:solidFill>
                <a:latin typeface="Patrick Hand" pitchFamily="34" charset="0"/>
                <a:ea typeface="Patrick Hand" pitchFamily="34" charset="-122"/>
                <a:cs typeface="Patrick Hand" pitchFamily="34" charset="-120"/>
              </a:rPr>
              <a:t>End-to-End Development Workflow</a:t>
            </a:r>
            <a:endParaRPr lang="en-US" sz="1250" dirty="0"/>
          </a:p>
        </p:txBody>
      </p:sp>
      <p:pic>
        <p:nvPicPr>
          <p:cNvPr id="5" name="Image 0" descr="preencoded.png"/>
          <p:cNvPicPr>
            <a:picLocks noChangeAspect="1"/>
          </p:cNvPicPr>
          <p:nvPr/>
        </p:nvPicPr>
        <p:blipFill>
          <a:blip r:embed="rId3"/>
          <a:stretch>
            <a:fillRect/>
          </a:stretch>
        </p:blipFill>
        <p:spPr>
          <a:xfrm>
            <a:off x="669131" y="848320"/>
            <a:ext cx="7805663" cy="2929012"/>
          </a:xfrm>
          <a:prstGeom prst="rect">
            <a:avLst/>
          </a:prstGeom>
        </p:spPr>
      </p:pic>
      <p:sp>
        <p:nvSpPr>
          <p:cNvPr id="6" name="Text 3"/>
          <p:cNvSpPr/>
          <p:nvPr/>
        </p:nvSpPr>
        <p:spPr>
          <a:xfrm>
            <a:off x="6976007" y="3088967"/>
            <a:ext cx="1177315" cy="181435"/>
          </a:xfrm>
          <a:prstGeom prst="rect">
            <a:avLst/>
          </a:prstGeom>
          <a:noFill/>
          <a:ln/>
        </p:spPr>
        <p:txBody>
          <a:bodyPr wrap="none" lIns="0" tIns="0" rIns="0" bIns="0" rtlCol="0" anchor="t"/>
          <a:lstStyle/>
          <a:p>
            <a:pPr marL="0" indent="0" algn="ctr">
              <a:lnSpc>
                <a:spcPct val="104000"/>
              </a:lnSpc>
              <a:buNone/>
            </a:pPr>
            <a:r>
              <a:rPr lang="en-US" sz="1100" dirty="0">
                <a:solidFill>
                  <a:srgbClr val="383838"/>
                </a:solidFill>
                <a:latin typeface="Patrick Hand" pitchFamily="34" charset="0"/>
                <a:ea typeface="Patrick Hand" pitchFamily="34" charset="-122"/>
                <a:cs typeface="Patrick Hand" pitchFamily="34" charset="-120"/>
              </a:rPr>
              <a:t>Bug Fix</a:t>
            </a:r>
            <a:endParaRPr lang="en-US" sz="1100" dirty="0"/>
          </a:p>
        </p:txBody>
      </p:sp>
      <p:sp>
        <p:nvSpPr>
          <p:cNvPr id="7" name="Text 4"/>
          <p:cNvSpPr/>
          <p:nvPr/>
        </p:nvSpPr>
        <p:spPr>
          <a:xfrm>
            <a:off x="5492268" y="3088967"/>
            <a:ext cx="1177315" cy="181435"/>
          </a:xfrm>
          <a:prstGeom prst="rect">
            <a:avLst/>
          </a:prstGeom>
          <a:noFill/>
          <a:ln/>
        </p:spPr>
        <p:txBody>
          <a:bodyPr wrap="none" lIns="0" tIns="0" rIns="0" bIns="0" rtlCol="0" anchor="t"/>
          <a:lstStyle/>
          <a:p>
            <a:pPr marL="0" indent="0" algn="ctr">
              <a:lnSpc>
                <a:spcPct val="104000"/>
              </a:lnSpc>
              <a:buNone/>
            </a:pPr>
            <a:r>
              <a:rPr lang="en-US" sz="1100" dirty="0">
                <a:solidFill>
                  <a:srgbClr val="383838"/>
                </a:solidFill>
                <a:latin typeface="Patrick Hand" pitchFamily="34" charset="0"/>
                <a:ea typeface="Patrick Hand" pitchFamily="34" charset="-122"/>
                <a:cs typeface="Patrick Hand" pitchFamily="34" charset="-120"/>
              </a:rPr>
              <a:t>Test &amp; Docs</a:t>
            </a:r>
            <a:endParaRPr lang="en-US" sz="1100" dirty="0"/>
          </a:p>
        </p:txBody>
      </p:sp>
      <p:sp>
        <p:nvSpPr>
          <p:cNvPr id="8" name="Text 5"/>
          <p:cNvSpPr/>
          <p:nvPr/>
        </p:nvSpPr>
        <p:spPr>
          <a:xfrm>
            <a:off x="4016593" y="3088967"/>
            <a:ext cx="1177314" cy="181435"/>
          </a:xfrm>
          <a:prstGeom prst="rect">
            <a:avLst/>
          </a:prstGeom>
          <a:noFill/>
          <a:ln/>
        </p:spPr>
        <p:txBody>
          <a:bodyPr wrap="none" lIns="0" tIns="0" rIns="0" bIns="0" rtlCol="0" anchor="t"/>
          <a:lstStyle/>
          <a:p>
            <a:pPr marL="0" indent="0" algn="ctr">
              <a:lnSpc>
                <a:spcPct val="104000"/>
              </a:lnSpc>
              <a:buNone/>
            </a:pPr>
            <a:r>
              <a:rPr lang="en-US" sz="1100" dirty="0">
                <a:solidFill>
                  <a:srgbClr val="383838"/>
                </a:solidFill>
                <a:latin typeface="Patrick Hand" pitchFamily="34" charset="0"/>
                <a:ea typeface="Patrick Hand" pitchFamily="34" charset="-122"/>
                <a:cs typeface="Patrick Hand" pitchFamily="34" charset="-120"/>
              </a:rPr>
              <a:t>Coding</a:t>
            </a:r>
            <a:endParaRPr lang="en-US" sz="1100" dirty="0"/>
          </a:p>
        </p:txBody>
      </p:sp>
      <p:sp>
        <p:nvSpPr>
          <p:cNvPr id="9" name="Text 6"/>
          <p:cNvSpPr/>
          <p:nvPr/>
        </p:nvSpPr>
        <p:spPr>
          <a:xfrm>
            <a:off x="2540918" y="3088967"/>
            <a:ext cx="1177315" cy="181435"/>
          </a:xfrm>
          <a:prstGeom prst="rect">
            <a:avLst/>
          </a:prstGeom>
          <a:noFill/>
          <a:ln/>
        </p:spPr>
        <p:txBody>
          <a:bodyPr wrap="none" lIns="0" tIns="0" rIns="0" bIns="0" rtlCol="0" anchor="t"/>
          <a:lstStyle/>
          <a:p>
            <a:pPr marL="0" indent="0" algn="ctr">
              <a:lnSpc>
                <a:spcPct val="104000"/>
              </a:lnSpc>
              <a:buNone/>
            </a:pPr>
            <a:r>
              <a:rPr lang="en-US" sz="1100" dirty="0">
                <a:solidFill>
                  <a:srgbClr val="383838"/>
                </a:solidFill>
                <a:latin typeface="Patrick Hand" pitchFamily="34" charset="0"/>
                <a:ea typeface="Patrick Hand" pitchFamily="34" charset="-122"/>
                <a:cs typeface="Patrick Hand" pitchFamily="34" charset="-120"/>
              </a:rPr>
              <a:t>Analysis</a:t>
            </a:r>
            <a:endParaRPr lang="en-US" sz="1100" dirty="0"/>
          </a:p>
        </p:txBody>
      </p:sp>
      <p:sp>
        <p:nvSpPr>
          <p:cNvPr id="10" name="Text 7"/>
          <p:cNvSpPr/>
          <p:nvPr/>
        </p:nvSpPr>
        <p:spPr>
          <a:xfrm>
            <a:off x="1032987" y="3088967"/>
            <a:ext cx="1177315" cy="181435"/>
          </a:xfrm>
          <a:prstGeom prst="rect">
            <a:avLst/>
          </a:prstGeom>
          <a:noFill/>
          <a:ln/>
        </p:spPr>
        <p:txBody>
          <a:bodyPr wrap="none" lIns="0" tIns="0" rIns="0" bIns="0" rtlCol="0" anchor="t"/>
          <a:lstStyle/>
          <a:p>
            <a:pPr marL="0" indent="0" algn="ctr">
              <a:lnSpc>
                <a:spcPct val="104000"/>
              </a:lnSpc>
              <a:buNone/>
            </a:pPr>
            <a:r>
              <a:rPr lang="en-US" sz="1100" dirty="0">
                <a:solidFill>
                  <a:srgbClr val="383838"/>
                </a:solidFill>
                <a:latin typeface="Patrick Hand" pitchFamily="34" charset="0"/>
                <a:ea typeface="Patrick Hand" pitchFamily="34" charset="-122"/>
                <a:cs typeface="Patrick Hand" pitchFamily="34" charset="-120"/>
              </a:rPr>
              <a:t>Requirements</a:t>
            </a:r>
            <a:endParaRPr lang="en-US" sz="1100" dirty="0"/>
          </a:p>
        </p:txBody>
      </p:sp>
      <p:sp>
        <p:nvSpPr>
          <p:cNvPr id="11" name="Shape 8"/>
          <p:cNvSpPr/>
          <p:nvPr/>
        </p:nvSpPr>
        <p:spPr>
          <a:xfrm>
            <a:off x="540023" y="3826297"/>
            <a:ext cx="8063954" cy="507504"/>
          </a:xfrm>
          <a:prstGeom prst="roundRect">
            <a:avLst>
              <a:gd name="adj" fmla="val 6784"/>
            </a:avLst>
          </a:prstGeom>
          <a:solidFill>
            <a:srgbClr val="E6E6E6"/>
          </a:solidFill>
          <a:ln w="4763">
            <a:solidFill>
              <a:srgbClr val="CCCCCC"/>
            </a:solidFill>
            <a:prstDash val="solid"/>
          </a:ln>
        </p:spPr>
      </p:sp>
      <p:sp>
        <p:nvSpPr>
          <p:cNvPr id="12" name="Shape 9"/>
          <p:cNvSpPr/>
          <p:nvPr/>
        </p:nvSpPr>
        <p:spPr>
          <a:xfrm>
            <a:off x="544785" y="3831059"/>
            <a:ext cx="2684785" cy="497979"/>
          </a:xfrm>
          <a:custGeom>
            <a:avLst/>
            <a:gdLst/>
            <a:ahLst/>
            <a:cxnLst/>
            <a:rect l="l" t="t" r="r" b="b"/>
            <a:pathLst>
              <a:path w="2684785" h="497979">
                <a:moveTo>
                  <a:pt x="28691" y="0"/>
                </a:moveTo>
                <a:lnTo>
                  <a:pt x="2684785" y="0"/>
                </a:lnTo>
                <a:lnTo>
                  <a:pt x="2684785" y="497979"/>
                </a:lnTo>
                <a:lnTo>
                  <a:pt x="28691" y="497979"/>
                </a:lnTo>
                <a:arcTo wR="28691" hR="28691" stAng="5400000" swAng="5400000"/>
                <a:lnTo>
                  <a:pt x="0" y="28691"/>
                </a:lnTo>
                <a:arcTo wR="28691" hR="28691" stAng="10800000" swAng="5400000"/>
                <a:close/>
              </a:path>
            </a:pathLst>
          </a:custGeom>
          <a:solidFill>
            <a:srgbClr val="E6E6E6"/>
          </a:solidFill>
          <a:ln/>
        </p:spPr>
      </p:sp>
      <p:sp>
        <p:nvSpPr>
          <p:cNvPr id="13" name="Text 10"/>
          <p:cNvSpPr/>
          <p:nvPr/>
        </p:nvSpPr>
        <p:spPr>
          <a:xfrm>
            <a:off x="626715" y="3912989"/>
            <a:ext cx="2520925" cy="107231"/>
          </a:xfrm>
          <a:prstGeom prst="rect">
            <a:avLst/>
          </a:prstGeom>
          <a:noFill/>
          <a:ln/>
        </p:spPr>
        <p:txBody>
          <a:bodyPr wrap="none" lIns="0" tIns="0" rIns="0" bIns="0" rtlCol="0" anchor="t"/>
          <a:lstStyle/>
          <a:p>
            <a:pPr marL="0" indent="0" algn="l">
              <a:lnSpc>
                <a:spcPct val="104000"/>
              </a:lnSpc>
              <a:buNone/>
            </a:pPr>
            <a:r>
              <a:rPr lang="en-US" sz="600" dirty="0">
                <a:solidFill>
                  <a:srgbClr val="000000"/>
                </a:solidFill>
                <a:latin typeface="Patrick Hand" pitchFamily="34" charset="0"/>
                <a:ea typeface="Patrick Hand" pitchFamily="34" charset="-122"/>
                <a:cs typeface="Patrick Hand" pitchFamily="34" charset="-120"/>
              </a:rPr>
              <a:t>🔁</a:t>
            </a:r>
            <a:r>
              <a:rPr lang="en-US" sz="600" dirty="0">
                <a:solidFill>
                  <a:srgbClr val="383838"/>
                </a:solidFill>
                <a:latin typeface="Patrick Hand" pitchFamily="34" charset="0"/>
                <a:ea typeface="Patrick Hand" pitchFamily="34" charset="-122"/>
                <a:cs typeface="Patrick Hand" pitchFamily="34" charset="-120"/>
              </a:rPr>
              <a:t> Reflection Loop</a:t>
            </a:r>
            <a:endParaRPr lang="en-US" sz="600" dirty="0"/>
          </a:p>
        </p:txBody>
      </p:sp>
      <p:sp>
        <p:nvSpPr>
          <p:cNvPr id="14" name="Text 11"/>
          <p:cNvSpPr/>
          <p:nvPr/>
        </p:nvSpPr>
        <p:spPr>
          <a:xfrm>
            <a:off x="626715" y="4046339"/>
            <a:ext cx="2520925" cy="200769"/>
          </a:xfrm>
          <a:prstGeom prst="rect">
            <a:avLst/>
          </a:prstGeom>
          <a:noFill/>
          <a:ln/>
        </p:spPr>
        <p:txBody>
          <a:bodyPr wrap="square" lIns="0" tIns="0" rIns="0" bIns="0" rtlCol="0" anchor="t">
            <a:normAutofit/>
          </a:bodyPr>
          <a:lstStyle/>
          <a:p>
            <a:pPr marL="0" indent="0" algn="l">
              <a:lnSpc>
                <a:spcPct val="102000"/>
              </a:lnSpc>
              <a:buNone/>
            </a:pPr>
            <a:r>
              <a:rPr lang="en-US" sz="600" dirty="0">
                <a:solidFill>
                  <a:srgbClr val="383838"/>
                </a:solidFill>
                <a:latin typeface="Patrick Hand" pitchFamily="34" charset="0"/>
                <a:ea typeface="Patrick Hand" pitchFamily="34" charset="-122"/>
                <a:cs typeface="Patrick Hand" pitchFamily="34" charset="-120"/>
              </a:rPr>
              <a:t>Code Reviewer sends feedback back to Coding Assistant for iterative improvement before proceeding</a:t>
            </a:r>
            <a:endParaRPr lang="en-US" sz="600" dirty="0"/>
          </a:p>
        </p:txBody>
      </p:sp>
      <p:sp>
        <p:nvSpPr>
          <p:cNvPr id="15" name="Shape 12"/>
          <p:cNvSpPr/>
          <p:nvPr/>
        </p:nvSpPr>
        <p:spPr>
          <a:xfrm>
            <a:off x="3229570" y="3831059"/>
            <a:ext cx="2684785" cy="497979"/>
          </a:xfrm>
          <a:prstGeom prst="rect">
            <a:avLst/>
          </a:prstGeom>
          <a:solidFill>
            <a:srgbClr val="E6E6E6"/>
          </a:solidFill>
          <a:ln/>
        </p:spPr>
      </p:sp>
      <p:sp>
        <p:nvSpPr>
          <p:cNvPr id="16" name="Shape 13"/>
          <p:cNvSpPr/>
          <p:nvPr/>
        </p:nvSpPr>
        <p:spPr>
          <a:xfrm>
            <a:off x="3229570" y="3831059"/>
            <a:ext cx="9525" cy="497979"/>
          </a:xfrm>
          <a:prstGeom prst="roundRect">
            <a:avLst>
              <a:gd name="adj" fmla="val 50000"/>
            </a:avLst>
          </a:prstGeom>
          <a:solidFill>
            <a:srgbClr val="CCCCCC"/>
          </a:solidFill>
          <a:ln/>
        </p:spPr>
      </p:sp>
      <p:sp>
        <p:nvSpPr>
          <p:cNvPr id="17" name="Text 14"/>
          <p:cNvSpPr/>
          <p:nvPr/>
        </p:nvSpPr>
        <p:spPr>
          <a:xfrm>
            <a:off x="3311500" y="3912989"/>
            <a:ext cx="2520925" cy="107231"/>
          </a:xfrm>
          <a:prstGeom prst="rect">
            <a:avLst/>
          </a:prstGeom>
          <a:noFill/>
          <a:ln/>
        </p:spPr>
        <p:txBody>
          <a:bodyPr wrap="none" lIns="0" tIns="0" rIns="0" bIns="0" rtlCol="0" anchor="t"/>
          <a:lstStyle/>
          <a:p>
            <a:pPr marL="0" indent="0" algn="l">
              <a:lnSpc>
                <a:spcPct val="104000"/>
              </a:lnSpc>
              <a:buNone/>
            </a:pPr>
            <a:r>
              <a:rPr lang="en-US" sz="600" dirty="0">
                <a:solidFill>
                  <a:srgbClr val="000000"/>
                </a:solidFill>
                <a:latin typeface="Patrick Hand" pitchFamily="34" charset="0"/>
                <a:ea typeface="Patrick Hand" pitchFamily="34" charset="-122"/>
                <a:cs typeface="Patrick Hand" pitchFamily="34" charset="-120"/>
              </a:rPr>
              <a:t>⚡</a:t>
            </a:r>
            <a:r>
              <a:rPr lang="en-US" sz="600" dirty="0">
                <a:solidFill>
                  <a:srgbClr val="383838"/>
                </a:solidFill>
                <a:latin typeface="Patrick Hand" pitchFamily="34" charset="0"/>
                <a:ea typeface="Patrick Hand" pitchFamily="34" charset="-122"/>
                <a:cs typeface="Patrick Hand" pitchFamily="34" charset="-120"/>
              </a:rPr>
              <a:t> Parallel Execution</a:t>
            </a:r>
            <a:endParaRPr lang="en-US" sz="600" dirty="0"/>
          </a:p>
        </p:txBody>
      </p:sp>
      <p:sp>
        <p:nvSpPr>
          <p:cNvPr id="18" name="Text 15"/>
          <p:cNvSpPr/>
          <p:nvPr/>
        </p:nvSpPr>
        <p:spPr>
          <a:xfrm>
            <a:off x="3311500" y="4046339"/>
            <a:ext cx="2520925" cy="200769"/>
          </a:xfrm>
          <a:prstGeom prst="rect">
            <a:avLst/>
          </a:prstGeom>
          <a:noFill/>
          <a:ln/>
        </p:spPr>
        <p:txBody>
          <a:bodyPr wrap="square" lIns="0" tIns="0" rIns="0" bIns="0" rtlCol="0" anchor="t">
            <a:normAutofit/>
          </a:bodyPr>
          <a:lstStyle/>
          <a:p>
            <a:pPr marL="0" indent="0" algn="l">
              <a:lnSpc>
                <a:spcPct val="102000"/>
              </a:lnSpc>
              <a:buNone/>
            </a:pPr>
            <a:r>
              <a:rPr lang="en-US" sz="600" dirty="0">
                <a:solidFill>
                  <a:srgbClr val="383838"/>
                </a:solidFill>
                <a:latin typeface="Patrick Hand" pitchFamily="34" charset="0"/>
                <a:ea typeface="Patrick Hand" pitchFamily="34" charset="-122"/>
                <a:cs typeface="Patrick Hand" pitchFamily="34" charset="-120"/>
              </a:rPr>
              <a:t>Testing and Documentation run simultaneously, cutting total pipeline time significantly</a:t>
            </a:r>
            <a:endParaRPr lang="en-US" sz="600" dirty="0"/>
          </a:p>
        </p:txBody>
      </p:sp>
      <p:sp>
        <p:nvSpPr>
          <p:cNvPr id="19" name="Shape 16"/>
          <p:cNvSpPr/>
          <p:nvPr/>
        </p:nvSpPr>
        <p:spPr>
          <a:xfrm>
            <a:off x="5914355" y="3831059"/>
            <a:ext cx="2684785" cy="497979"/>
          </a:xfrm>
          <a:custGeom>
            <a:avLst/>
            <a:gdLst/>
            <a:ahLst/>
            <a:cxnLst/>
            <a:rect l="l" t="t" r="r" b="b"/>
            <a:pathLst>
              <a:path w="2684785" h="497979">
                <a:moveTo>
                  <a:pt x="0" y="0"/>
                </a:moveTo>
                <a:lnTo>
                  <a:pt x="2656094" y="0"/>
                </a:lnTo>
                <a:arcTo wR="28691" hR="28691" stAng="16200000" swAng="5400000"/>
                <a:lnTo>
                  <a:pt x="2684785" y="469288"/>
                </a:lnTo>
                <a:arcTo wR="28691" hR="28691" stAng="0" swAng="5400000"/>
                <a:lnTo>
                  <a:pt x="0" y="497979"/>
                </a:lnTo>
                <a:lnTo>
                  <a:pt x="0" y="0"/>
                </a:lnTo>
                <a:close/>
              </a:path>
            </a:pathLst>
          </a:custGeom>
          <a:solidFill>
            <a:srgbClr val="E6E6E6"/>
          </a:solidFill>
          <a:ln/>
        </p:spPr>
      </p:sp>
      <p:sp>
        <p:nvSpPr>
          <p:cNvPr id="20" name="Shape 17"/>
          <p:cNvSpPr/>
          <p:nvPr/>
        </p:nvSpPr>
        <p:spPr>
          <a:xfrm>
            <a:off x="5914355" y="3831059"/>
            <a:ext cx="9525" cy="497979"/>
          </a:xfrm>
          <a:prstGeom prst="roundRect">
            <a:avLst>
              <a:gd name="adj" fmla="val 50000"/>
            </a:avLst>
          </a:prstGeom>
          <a:solidFill>
            <a:srgbClr val="CCCCCC"/>
          </a:solidFill>
          <a:ln/>
        </p:spPr>
      </p:sp>
      <p:sp>
        <p:nvSpPr>
          <p:cNvPr id="21" name="Text 18"/>
          <p:cNvSpPr/>
          <p:nvPr/>
        </p:nvSpPr>
        <p:spPr>
          <a:xfrm>
            <a:off x="5996285" y="3912989"/>
            <a:ext cx="2520925" cy="107231"/>
          </a:xfrm>
          <a:prstGeom prst="rect">
            <a:avLst/>
          </a:prstGeom>
          <a:noFill/>
          <a:ln/>
        </p:spPr>
        <p:txBody>
          <a:bodyPr wrap="none" lIns="0" tIns="0" rIns="0" bIns="0" rtlCol="0" anchor="t"/>
          <a:lstStyle/>
          <a:p>
            <a:pPr marL="0" indent="0" algn="l">
              <a:lnSpc>
                <a:spcPct val="104000"/>
              </a:lnSpc>
              <a:buNone/>
            </a:pPr>
            <a:r>
              <a:rPr lang="en-US" sz="600" dirty="0">
                <a:solidFill>
                  <a:srgbClr val="000000"/>
                </a:solidFill>
                <a:latin typeface="Patrick Hand" pitchFamily="34" charset="0"/>
                <a:ea typeface="Patrick Hand" pitchFamily="34" charset="-122"/>
                <a:cs typeface="Patrick Hand" pitchFamily="34" charset="-120"/>
              </a:rPr>
              <a:t>🤝</a:t>
            </a:r>
            <a:r>
              <a:rPr lang="en-US" sz="600" dirty="0">
                <a:solidFill>
                  <a:srgbClr val="383838"/>
                </a:solidFill>
                <a:latin typeface="Patrick Hand" pitchFamily="34" charset="0"/>
                <a:ea typeface="Patrick Hand" pitchFamily="34" charset="-122"/>
                <a:cs typeface="Patrick Hand" pitchFamily="34" charset="-120"/>
              </a:rPr>
              <a:t> Agent Collaboration</a:t>
            </a:r>
            <a:endParaRPr lang="en-US" sz="600" dirty="0"/>
          </a:p>
        </p:txBody>
      </p:sp>
      <p:sp>
        <p:nvSpPr>
          <p:cNvPr id="22" name="Text 19"/>
          <p:cNvSpPr/>
          <p:nvPr/>
        </p:nvSpPr>
        <p:spPr>
          <a:xfrm>
            <a:off x="5996285" y="4046339"/>
            <a:ext cx="2520925" cy="100385"/>
          </a:xfrm>
          <a:prstGeom prst="rect">
            <a:avLst/>
          </a:prstGeom>
          <a:noFill/>
          <a:ln/>
        </p:spPr>
        <p:txBody>
          <a:bodyPr wrap="none" lIns="0" tIns="0" rIns="0" bIns="0" rtlCol="0" anchor="t"/>
          <a:lstStyle/>
          <a:p>
            <a:pPr marL="0" indent="0" algn="l">
              <a:lnSpc>
                <a:spcPct val="102000"/>
              </a:lnSpc>
              <a:buNone/>
            </a:pPr>
            <a:r>
              <a:rPr lang="en-US" sz="600" dirty="0">
                <a:solidFill>
                  <a:srgbClr val="383838"/>
                </a:solidFill>
                <a:latin typeface="Patrick Hand" pitchFamily="34" charset="0"/>
                <a:ea typeface="Patrick Hand" pitchFamily="34" charset="-122"/>
                <a:cs typeface="Patrick Hand" pitchFamily="34" charset="-120"/>
              </a:rPr>
              <a:t>Shared memory and structured handoffs keep all agents aligned on project context</a:t>
            </a:r>
            <a:endParaRPr lang="en-US" sz="600" dirty="0"/>
          </a:p>
        </p:txBody>
      </p:sp>
      <p:sp>
        <p:nvSpPr>
          <p:cNvPr id="27" name="Rectangle 26">
            <a:extLst>
              <a:ext uri="{FF2B5EF4-FFF2-40B4-BE49-F238E27FC236}">
                <a16:creationId xmlns:a16="http://schemas.microsoft.com/office/drawing/2014/main" id="{5F7EF87C-087B-A03E-D707-7CD8CF1D6889}"/>
              </a:ext>
            </a:extLst>
          </p:cNvPr>
          <p:cNvSpPr/>
          <p:nvPr/>
        </p:nvSpPr>
        <p:spPr>
          <a:xfrm>
            <a:off x="8066098" y="4862670"/>
            <a:ext cx="1077902" cy="207838"/>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0023" y="424309"/>
            <a:ext cx="378991" cy="117202"/>
          </a:xfrm>
          <a:prstGeom prst="roundRect">
            <a:avLst>
              <a:gd name="adj" fmla="val 22118"/>
            </a:avLst>
          </a:prstGeom>
          <a:solidFill>
            <a:srgbClr val="E6E6E6"/>
          </a:solidFill>
          <a:ln/>
        </p:spPr>
      </p:sp>
      <p:sp>
        <p:nvSpPr>
          <p:cNvPr id="3" name="Text 1"/>
          <p:cNvSpPr/>
          <p:nvPr/>
        </p:nvSpPr>
        <p:spPr>
          <a:xfrm>
            <a:off x="586308" y="447452"/>
            <a:ext cx="743620" cy="70917"/>
          </a:xfrm>
          <a:prstGeom prst="rect">
            <a:avLst/>
          </a:prstGeom>
          <a:noFill/>
          <a:ln/>
        </p:spPr>
        <p:txBody>
          <a:bodyPr wrap="none" lIns="0" tIns="0" rIns="0" bIns="0" rtlCol="0" anchor="t"/>
          <a:lstStyle/>
          <a:p>
            <a:pPr marL="0" indent="0" algn="l">
              <a:lnSpc>
                <a:spcPct val="96000"/>
              </a:lnSpc>
              <a:buNone/>
            </a:pPr>
            <a:r>
              <a:rPr lang="en-US" sz="450" dirty="0">
                <a:solidFill>
                  <a:srgbClr val="383838"/>
                </a:solidFill>
                <a:latin typeface="Patrick Hand" pitchFamily="34" charset="0"/>
                <a:ea typeface="Patrick Hand" pitchFamily="34" charset="-122"/>
                <a:cs typeface="Patrick Hand" pitchFamily="34" charset="-120"/>
              </a:rPr>
              <a:t>TECH STACK</a:t>
            </a:r>
            <a:endParaRPr lang="en-US" sz="450" dirty="0"/>
          </a:p>
        </p:txBody>
      </p:sp>
      <p:sp>
        <p:nvSpPr>
          <p:cNvPr id="4" name="Text 2"/>
          <p:cNvSpPr/>
          <p:nvPr/>
        </p:nvSpPr>
        <p:spPr>
          <a:xfrm>
            <a:off x="540023" y="556915"/>
            <a:ext cx="8063954" cy="192881"/>
          </a:xfrm>
          <a:prstGeom prst="rect">
            <a:avLst/>
          </a:prstGeom>
          <a:noFill/>
          <a:ln/>
        </p:spPr>
        <p:txBody>
          <a:bodyPr wrap="none" lIns="0" tIns="0" rIns="0" bIns="0" rtlCol="0" anchor="t"/>
          <a:lstStyle/>
          <a:p>
            <a:pPr marL="0" indent="0" algn="l">
              <a:lnSpc>
                <a:spcPct val="104000"/>
              </a:lnSpc>
              <a:buNone/>
            </a:pPr>
            <a:r>
              <a:rPr lang="en-US" sz="1200" dirty="0">
                <a:solidFill>
                  <a:srgbClr val="383838"/>
                </a:solidFill>
                <a:latin typeface="Patrick Hand" pitchFamily="34" charset="0"/>
                <a:ea typeface="Patrick Hand" pitchFamily="34" charset="-122"/>
                <a:cs typeface="Patrick Hand" pitchFamily="34" charset="-120"/>
              </a:rPr>
              <a:t>Technologies Used</a:t>
            </a:r>
            <a:endParaRPr lang="en-US" sz="1200" dirty="0"/>
          </a:p>
        </p:txBody>
      </p:sp>
      <p:pic>
        <p:nvPicPr>
          <p:cNvPr id="5" name="Image 0" descr="preencoded.png"/>
          <p:cNvPicPr>
            <a:picLocks noChangeAspect="1"/>
          </p:cNvPicPr>
          <p:nvPr/>
        </p:nvPicPr>
        <p:blipFill>
          <a:blip r:embed="rId3"/>
          <a:stretch>
            <a:fillRect/>
          </a:stretch>
        </p:blipFill>
        <p:spPr>
          <a:xfrm>
            <a:off x="540023" y="850999"/>
            <a:ext cx="3937918" cy="3079104"/>
          </a:xfrm>
          <a:prstGeom prst="rect">
            <a:avLst/>
          </a:prstGeom>
        </p:spPr>
      </p:pic>
      <p:sp>
        <p:nvSpPr>
          <p:cNvPr id="6" name="Text 3"/>
          <p:cNvSpPr/>
          <p:nvPr/>
        </p:nvSpPr>
        <p:spPr>
          <a:xfrm>
            <a:off x="4588966" y="1634950"/>
            <a:ext cx="3937918" cy="96441"/>
          </a:xfrm>
          <a:prstGeom prst="rect">
            <a:avLst/>
          </a:prstGeom>
          <a:noFill/>
          <a:ln/>
        </p:spPr>
        <p:txBody>
          <a:bodyPr wrap="none" lIns="0" tIns="0" rIns="0" bIns="0" rtlCol="0" anchor="t"/>
          <a:lstStyle/>
          <a:p>
            <a:pPr marL="0" indent="0" algn="l">
              <a:lnSpc>
                <a:spcPct val="104000"/>
              </a:lnSpc>
              <a:buNone/>
            </a:pPr>
            <a:r>
              <a:rPr lang="en-US" sz="1400" dirty="0">
                <a:solidFill>
                  <a:srgbClr val="383838"/>
                </a:solidFill>
                <a:latin typeface="Patrick Hand" pitchFamily="34" charset="0"/>
                <a:ea typeface="Patrick Hand" pitchFamily="34" charset="-122"/>
                <a:cs typeface="Patrick Hand" pitchFamily="34" charset="-120"/>
              </a:rPr>
              <a:t>Built for Reliability &amp; Scale</a:t>
            </a:r>
            <a:endParaRPr lang="en-US" sz="1400" dirty="0"/>
          </a:p>
        </p:txBody>
      </p:sp>
      <p:sp>
        <p:nvSpPr>
          <p:cNvPr id="7" name="Text 4"/>
          <p:cNvSpPr/>
          <p:nvPr/>
        </p:nvSpPr>
        <p:spPr>
          <a:xfrm>
            <a:off x="4588966" y="1921172"/>
            <a:ext cx="4299007" cy="111100"/>
          </a:xfrm>
          <a:prstGeom prst="rect">
            <a:avLst/>
          </a:prstGeom>
          <a:noFill/>
          <a:ln/>
        </p:spPr>
        <p:txBody>
          <a:bodyPr wrap="none" lIns="0" tIns="0" rIns="0" bIns="0" rtlCol="0" anchor="t"/>
          <a:lstStyle/>
          <a:p>
            <a:pPr marL="0" indent="0" algn="l">
              <a:lnSpc>
                <a:spcPct val="100000"/>
              </a:lnSpc>
              <a:buNone/>
            </a:pPr>
            <a:r>
              <a:rPr lang="en-US" sz="1100" dirty="0">
                <a:solidFill>
                  <a:srgbClr val="383838"/>
                </a:solidFill>
                <a:latin typeface="Patrick Hand" pitchFamily="34" charset="0"/>
                <a:ea typeface="Patrick Hand" pitchFamily="34" charset="-122"/>
                <a:cs typeface="Patrick Hand" pitchFamily="34" charset="-120"/>
              </a:rPr>
              <a:t>DevPilot AI leverages a modern, Python-native stack designed for async agent </a:t>
            </a:r>
          </a:p>
          <a:p>
            <a:pPr marL="0" indent="0" algn="l">
              <a:lnSpc>
                <a:spcPct val="100000"/>
              </a:lnSpc>
              <a:buNone/>
            </a:pPr>
            <a:r>
              <a:rPr lang="en-US" sz="1100" dirty="0">
                <a:solidFill>
                  <a:srgbClr val="383838"/>
                </a:solidFill>
                <a:latin typeface="Patrick Hand" pitchFamily="34" charset="0"/>
                <a:ea typeface="Patrick Hand" pitchFamily="34" charset="-122"/>
                <a:cs typeface="Patrick Hand" pitchFamily="34" charset="-120"/>
              </a:rPr>
              <a:t>orchestration and robust structured data handling.</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3557" y="4198441"/>
            <a:ext cx="115714" cy="115714"/>
          </a:xfrm>
          <a:prstGeom prst="rect">
            <a:avLst/>
          </a:prstGeom>
        </p:spPr>
      </p:pic>
      <p:sp>
        <p:nvSpPr>
          <p:cNvPr id="9" name="Text 5"/>
          <p:cNvSpPr/>
          <p:nvPr/>
        </p:nvSpPr>
        <p:spPr>
          <a:xfrm>
            <a:off x="935310" y="4196060"/>
            <a:ext cx="2405211" cy="96441"/>
          </a:xfrm>
          <a:prstGeom prst="rect">
            <a:avLst/>
          </a:prstGeom>
          <a:noFill/>
          <a:ln/>
        </p:spPr>
        <p:txBody>
          <a:bodyPr wrap="none" lIns="0" tIns="0" rIns="0" bIns="0" rtlCol="0" anchor="t"/>
          <a:lstStyle/>
          <a:p>
            <a:pPr marL="0" indent="0" algn="l">
              <a:lnSpc>
                <a:spcPct val="104000"/>
              </a:lnSpc>
              <a:buNone/>
            </a:pPr>
            <a:r>
              <a:rPr lang="en-US" sz="800" dirty="0">
                <a:solidFill>
                  <a:srgbClr val="383838"/>
                </a:solidFill>
                <a:latin typeface="Patrick Hand" pitchFamily="34" charset="0"/>
                <a:ea typeface="Patrick Hand" pitchFamily="34" charset="-122"/>
                <a:cs typeface="Patrick Hand" pitchFamily="34" charset="-120"/>
              </a:rPr>
              <a:t>OpenAI Agents SDK</a:t>
            </a:r>
            <a:endParaRPr lang="en-US" sz="800" dirty="0"/>
          </a:p>
        </p:txBody>
      </p:sp>
      <p:sp>
        <p:nvSpPr>
          <p:cNvPr id="10" name="Text 6"/>
          <p:cNvSpPr/>
          <p:nvPr/>
        </p:nvSpPr>
        <p:spPr>
          <a:xfrm>
            <a:off x="935310" y="4315643"/>
            <a:ext cx="2405211" cy="92571"/>
          </a:xfrm>
          <a:prstGeom prst="rect">
            <a:avLst/>
          </a:prstGeom>
          <a:noFill/>
          <a:ln/>
        </p:spPr>
        <p:txBody>
          <a:bodyPr wrap="none" lIns="0" tIns="0" rIns="0" bIns="0" rtlCol="0" anchor="t"/>
          <a:lstStyle/>
          <a:p>
            <a:pPr marL="0" indent="0" algn="l">
              <a:lnSpc>
                <a:spcPct val="100000"/>
              </a:lnSpc>
              <a:buNone/>
            </a:pPr>
            <a:r>
              <a:rPr lang="en-US" sz="800" dirty="0">
                <a:solidFill>
                  <a:srgbClr val="383838"/>
                </a:solidFill>
                <a:latin typeface="Patrick Hand" pitchFamily="34" charset="0"/>
                <a:ea typeface="Patrick Hand" pitchFamily="34" charset="-122"/>
                <a:cs typeface="Patrick Hand" pitchFamily="34" charset="-120"/>
              </a:rPr>
              <a:t>Core framework for agent creation, handoffs, and memory </a:t>
            </a:r>
          </a:p>
          <a:p>
            <a:pPr marL="0" indent="0" algn="l">
              <a:lnSpc>
                <a:spcPct val="100000"/>
              </a:lnSpc>
              <a:buNone/>
            </a:pPr>
            <a:r>
              <a:rPr lang="en-US" sz="800" dirty="0">
                <a:solidFill>
                  <a:srgbClr val="383838"/>
                </a:solidFill>
                <a:latin typeface="Patrick Hand" pitchFamily="34" charset="0"/>
                <a:ea typeface="Patrick Hand" pitchFamily="34" charset="-122"/>
                <a:cs typeface="Patrick Hand" pitchFamily="34" charset="-120"/>
              </a:rPr>
              <a:t>management</a:t>
            </a:r>
            <a:endParaRPr lang="en-US" sz="8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7615" y="4198441"/>
            <a:ext cx="115714" cy="115714"/>
          </a:xfrm>
          <a:prstGeom prst="rect">
            <a:avLst/>
          </a:prstGeom>
        </p:spPr>
      </p:pic>
      <p:sp>
        <p:nvSpPr>
          <p:cNvPr id="12" name="Text 7"/>
          <p:cNvSpPr/>
          <p:nvPr/>
        </p:nvSpPr>
        <p:spPr>
          <a:xfrm>
            <a:off x="3639369" y="4196060"/>
            <a:ext cx="2405211" cy="96441"/>
          </a:xfrm>
          <a:prstGeom prst="rect">
            <a:avLst/>
          </a:prstGeom>
          <a:noFill/>
          <a:ln/>
        </p:spPr>
        <p:txBody>
          <a:bodyPr wrap="none" lIns="0" tIns="0" rIns="0" bIns="0" rtlCol="0" anchor="t"/>
          <a:lstStyle/>
          <a:p>
            <a:pPr marL="0" indent="0" algn="l">
              <a:lnSpc>
                <a:spcPct val="104000"/>
              </a:lnSpc>
              <a:buNone/>
            </a:pPr>
            <a:r>
              <a:rPr lang="en-US" sz="800" dirty="0">
                <a:solidFill>
                  <a:srgbClr val="383838"/>
                </a:solidFill>
                <a:latin typeface="Patrick Hand" pitchFamily="34" charset="0"/>
                <a:ea typeface="Patrick Hand" pitchFamily="34" charset="-122"/>
                <a:cs typeface="Patrick Hand" pitchFamily="34" charset="-120"/>
              </a:rPr>
              <a:t>Pydantic + AsyncIO</a:t>
            </a:r>
            <a:endParaRPr lang="en-US" sz="800" dirty="0"/>
          </a:p>
        </p:txBody>
      </p:sp>
      <p:sp>
        <p:nvSpPr>
          <p:cNvPr id="13" name="Text 8"/>
          <p:cNvSpPr/>
          <p:nvPr/>
        </p:nvSpPr>
        <p:spPr>
          <a:xfrm>
            <a:off x="3639369" y="4315643"/>
            <a:ext cx="2405211" cy="92571"/>
          </a:xfrm>
          <a:prstGeom prst="rect">
            <a:avLst/>
          </a:prstGeom>
          <a:noFill/>
          <a:ln/>
        </p:spPr>
        <p:txBody>
          <a:bodyPr wrap="none" lIns="0" tIns="0" rIns="0" bIns="0" rtlCol="0" anchor="t"/>
          <a:lstStyle/>
          <a:p>
            <a:pPr marL="0" indent="0" algn="l">
              <a:lnSpc>
                <a:spcPct val="100000"/>
              </a:lnSpc>
              <a:buNone/>
            </a:pPr>
            <a:r>
              <a:rPr lang="en-US" sz="800" dirty="0">
                <a:solidFill>
                  <a:srgbClr val="383838"/>
                </a:solidFill>
                <a:latin typeface="Patrick Hand" pitchFamily="34" charset="0"/>
                <a:ea typeface="Patrick Hand" pitchFamily="34" charset="-122"/>
                <a:cs typeface="Patrick Hand" pitchFamily="34" charset="-120"/>
              </a:rPr>
              <a:t>Structured data validation and non-blocking concurrent execution</a:t>
            </a:r>
            <a:endParaRPr lang="en-US" sz="8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21673" y="4198441"/>
            <a:ext cx="115714" cy="115714"/>
          </a:xfrm>
          <a:prstGeom prst="rect">
            <a:avLst/>
          </a:prstGeom>
        </p:spPr>
      </p:pic>
      <p:sp>
        <p:nvSpPr>
          <p:cNvPr id="15" name="Text 9"/>
          <p:cNvSpPr/>
          <p:nvPr/>
        </p:nvSpPr>
        <p:spPr>
          <a:xfrm>
            <a:off x="6343427" y="4196060"/>
            <a:ext cx="2405211" cy="96441"/>
          </a:xfrm>
          <a:prstGeom prst="rect">
            <a:avLst/>
          </a:prstGeom>
          <a:noFill/>
          <a:ln/>
        </p:spPr>
        <p:txBody>
          <a:bodyPr wrap="none" lIns="0" tIns="0" rIns="0" bIns="0" rtlCol="0" anchor="t"/>
          <a:lstStyle/>
          <a:p>
            <a:pPr marL="0" indent="0" algn="l">
              <a:lnSpc>
                <a:spcPct val="104000"/>
              </a:lnSpc>
              <a:buNone/>
            </a:pPr>
            <a:r>
              <a:rPr lang="en-US" sz="800" dirty="0">
                <a:solidFill>
                  <a:srgbClr val="383838"/>
                </a:solidFill>
                <a:latin typeface="Patrick Hand" pitchFamily="34" charset="0"/>
                <a:ea typeface="Patrick Hand" pitchFamily="34" charset="-122"/>
                <a:cs typeface="Patrick Hand" pitchFamily="34" charset="-120"/>
              </a:rPr>
              <a:t>GitHub REST API</a:t>
            </a:r>
            <a:endParaRPr lang="en-US" sz="800" dirty="0"/>
          </a:p>
        </p:txBody>
      </p:sp>
      <p:sp>
        <p:nvSpPr>
          <p:cNvPr id="16" name="Text 10"/>
          <p:cNvSpPr/>
          <p:nvPr/>
        </p:nvSpPr>
        <p:spPr>
          <a:xfrm>
            <a:off x="6343427" y="4315643"/>
            <a:ext cx="2405211" cy="92571"/>
          </a:xfrm>
          <a:prstGeom prst="rect">
            <a:avLst/>
          </a:prstGeom>
          <a:noFill/>
          <a:ln/>
        </p:spPr>
        <p:txBody>
          <a:bodyPr wrap="none" lIns="0" tIns="0" rIns="0" bIns="0" rtlCol="0" anchor="t"/>
          <a:lstStyle/>
          <a:p>
            <a:pPr marL="0" indent="0" algn="l">
              <a:lnSpc>
                <a:spcPct val="100000"/>
              </a:lnSpc>
              <a:buNone/>
            </a:pPr>
            <a:r>
              <a:rPr lang="en-US" sz="800" dirty="0">
                <a:solidFill>
                  <a:srgbClr val="383838"/>
                </a:solidFill>
                <a:latin typeface="Patrick Hand" pitchFamily="34" charset="0"/>
                <a:ea typeface="Patrick Hand" pitchFamily="34" charset="-122"/>
                <a:cs typeface="Patrick Hand" pitchFamily="34" charset="-120"/>
              </a:rPr>
              <a:t>Enables real-world issue search and repository integration</a:t>
            </a:r>
            <a:endParaRPr lang="en-US" sz="800" dirty="0"/>
          </a:p>
        </p:txBody>
      </p:sp>
      <p:sp>
        <p:nvSpPr>
          <p:cNvPr id="21" name="Rectangle 20">
            <a:extLst>
              <a:ext uri="{FF2B5EF4-FFF2-40B4-BE49-F238E27FC236}">
                <a16:creationId xmlns:a16="http://schemas.microsoft.com/office/drawing/2014/main" id="{742AB96A-CD97-CECD-28F6-DFBDD6893A02}"/>
              </a:ext>
            </a:extLst>
          </p:cNvPr>
          <p:cNvSpPr/>
          <p:nvPr/>
        </p:nvSpPr>
        <p:spPr>
          <a:xfrm>
            <a:off x="8066098" y="4862670"/>
            <a:ext cx="1077902" cy="207838"/>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0023" y="451693"/>
            <a:ext cx="670024" cy="186779"/>
          </a:xfrm>
          <a:prstGeom prst="roundRect">
            <a:avLst>
              <a:gd name="adj" fmla="val 22120"/>
            </a:avLst>
          </a:prstGeom>
          <a:solidFill>
            <a:srgbClr val="E6E6E6"/>
          </a:solidFill>
          <a:ln/>
        </p:spPr>
      </p:sp>
      <p:sp>
        <p:nvSpPr>
          <p:cNvPr id="3" name="Text 1"/>
          <p:cNvSpPr/>
          <p:nvPr/>
        </p:nvSpPr>
        <p:spPr>
          <a:xfrm>
            <a:off x="613767" y="488528"/>
            <a:ext cx="979736" cy="113109"/>
          </a:xfrm>
          <a:prstGeom prst="rect">
            <a:avLst/>
          </a:prstGeom>
          <a:noFill/>
          <a:ln/>
        </p:spPr>
        <p:txBody>
          <a:bodyPr wrap="none" lIns="0" tIns="0" rIns="0" bIns="0" rtlCol="0" anchor="t"/>
          <a:lstStyle/>
          <a:p>
            <a:pPr marL="0" indent="0" algn="l">
              <a:lnSpc>
                <a:spcPct val="96000"/>
              </a:lnSpc>
              <a:buNone/>
            </a:pPr>
            <a:r>
              <a:rPr lang="en-US" sz="750" dirty="0">
                <a:solidFill>
                  <a:srgbClr val="383838"/>
                </a:solidFill>
                <a:latin typeface="Patrick Hand" pitchFamily="34" charset="0"/>
                <a:ea typeface="Patrick Hand" pitchFamily="34" charset="-122"/>
                <a:cs typeface="Patrick Hand" pitchFamily="34" charset="-120"/>
              </a:rPr>
              <a:t>KEY FEATURES</a:t>
            </a:r>
            <a:endParaRPr lang="en-US" sz="750" dirty="0"/>
          </a:p>
        </p:txBody>
      </p:sp>
      <p:sp>
        <p:nvSpPr>
          <p:cNvPr id="4" name="Text 2"/>
          <p:cNvSpPr/>
          <p:nvPr/>
        </p:nvSpPr>
        <p:spPr>
          <a:xfrm>
            <a:off x="540023" y="677614"/>
            <a:ext cx="8063954" cy="307404"/>
          </a:xfrm>
          <a:prstGeom prst="rect">
            <a:avLst/>
          </a:prstGeom>
          <a:noFill/>
          <a:ln/>
        </p:spPr>
        <p:txBody>
          <a:bodyPr wrap="none" lIns="0" tIns="0" rIns="0" bIns="0" rtlCol="0" anchor="t"/>
          <a:lstStyle/>
          <a:p>
            <a:pPr marL="0" indent="0" algn="l">
              <a:lnSpc>
                <a:spcPct val="104000"/>
              </a:lnSpc>
              <a:buNone/>
            </a:pPr>
            <a:r>
              <a:rPr lang="en-US" sz="1900" dirty="0">
                <a:solidFill>
                  <a:srgbClr val="383838"/>
                </a:solidFill>
                <a:latin typeface="Patrick Hand" pitchFamily="34" charset="0"/>
                <a:ea typeface="Patrick Hand" pitchFamily="34" charset="-122"/>
                <a:cs typeface="Patrick Hand" pitchFamily="34" charset="-120"/>
              </a:rPr>
              <a:t>What Makes DevPilot AI Powerful</a:t>
            </a:r>
            <a:endParaRPr lang="en-US" sz="19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0023" y="1131987"/>
            <a:ext cx="307404" cy="307404"/>
          </a:xfrm>
          <a:prstGeom prst="rect">
            <a:avLst/>
          </a:prstGeom>
        </p:spPr>
      </p:pic>
      <p:sp>
        <p:nvSpPr>
          <p:cNvPr id="6" name="Text 3"/>
          <p:cNvSpPr/>
          <p:nvPr/>
        </p:nvSpPr>
        <p:spPr>
          <a:xfrm>
            <a:off x="540023" y="1561802"/>
            <a:ext cx="3970734" cy="153665"/>
          </a:xfrm>
          <a:prstGeom prst="rect">
            <a:avLst/>
          </a:prstGeom>
          <a:noFill/>
          <a:ln/>
        </p:spPr>
        <p:txBody>
          <a:bodyPr wrap="none" lIns="0" tIns="0" rIns="0" bIns="0" rtlCol="0" anchor="t"/>
          <a:lstStyle/>
          <a:p>
            <a:pPr marL="0" indent="0" algn="l">
              <a:lnSpc>
                <a:spcPct val="104000"/>
              </a:lnSpc>
              <a:buNone/>
            </a:pPr>
            <a:r>
              <a:rPr lang="en-US" sz="950" dirty="0">
                <a:solidFill>
                  <a:srgbClr val="383838"/>
                </a:solidFill>
                <a:latin typeface="Patrick Hand" pitchFamily="34" charset="0"/>
                <a:ea typeface="Patrick Hand" pitchFamily="34" charset="-122"/>
                <a:cs typeface="Patrick Hand" pitchFamily="34" charset="-120"/>
              </a:rPr>
              <a:t>Multi-Agent Architecture</a:t>
            </a:r>
            <a:endParaRPr lang="en-US" sz="950" dirty="0"/>
          </a:p>
        </p:txBody>
      </p:sp>
      <p:sp>
        <p:nvSpPr>
          <p:cNvPr id="7" name="Text 4"/>
          <p:cNvSpPr/>
          <p:nvPr/>
        </p:nvSpPr>
        <p:spPr>
          <a:xfrm>
            <a:off x="540023" y="1774254"/>
            <a:ext cx="3970734" cy="176659"/>
          </a:xfrm>
          <a:prstGeom prst="rect">
            <a:avLst/>
          </a:prstGeom>
          <a:noFill/>
          <a:ln/>
        </p:spPr>
        <p:txBody>
          <a:bodyPr wrap="none" lIns="0" tIns="0" rIns="0" bIns="0" rtlCol="0" anchor="t"/>
          <a:lstStyle/>
          <a:p>
            <a:pPr marL="0" indent="0" algn="l">
              <a:lnSpc>
                <a:spcPct val="120000"/>
              </a:lnSpc>
              <a:buNone/>
            </a:pPr>
            <a:r>
              <a:rPr lang="en-US" sz="950" dirty="0">
                <a:solidFill>
                  <a:srgbClr val="383838"/>
                </a:solidFill>
                <a:latin typeface="Patrick Hand" pitchFamily="34" charset="0"/>
                <a:ea typeface="Patrick Hand" pitchFamily="34" charset="-122"/>
                <a:cs typeface="Patrick Hand" pitchFamily="34" charset="-120"/>
              </a:rPr>
              <a:t>Specialist agents collaborate with shared memory and structured handoffs</a:t>
            </a:r>
            <a:endParaRPr lang="en-US" sz="9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3168" y="1131987"/>
            <a:ext cx="307404" cy="307404"/>
          </a:xfrm>
          <a:prstGeom prst="rect">
            <a:avLst/>
          </a:prstGeom>
        </p:spPr>
      </p:pic>
      <p:sp>
        <p:nvSpPr>
          <p:cNvPr id="9" name="Text 5"/>
          <p:cNvSpPr/>
          <p:nvPr/>
        </p:nvSpPr>
        <p:spPr>
          <a:xfrm>
            <a:off x="4633168" y="1561802"/>
            <a:ext cx="3970809" cy="153665"/>
          </a:xfrm>
          <a:prstGeom prst="rect">
            <a:avLst/>
          </a:prstGeom>
          <a:noFill/>
          <a:ln/>
        </p:spPr>
        <p:txBody>
          <a:bodyPr wrap="none" lIns="0" tIns="0" rIns="0" bIns="0" rtlCol="0" anchor="t"/>
          <a:lstStyle/>
          <a:p>
            <a:pPr marL="0" indent="0" algn="l">
              <a:lnSpc>
                <a:spcPct val="104000"/>
              </a:lnSpc>
              <a:buNone/>
            </a:pPr>
            <a:r>
              <a:rPr lang="en-US" sz="950" dirty="0">
                <a:solidFill>
                  <a:srgbClr val="383838"/>
                </a:solidFill>
                <a:latin typeface="Patrick Hand" pitchFamily="34" charset="0"/>
                <a:ea typeface="Patrick Hand" pitchFamily="34" charset="-122"/>
                <a:cs typeface="Patrick Hand" pitchFamily="34" charset="-120"/>
              </a:rPr>
              <a:t>Automated SDLC</a:t>
            </a:r>
            <a:endParaRPr lang="en-US" sz="950" dirty="0"/>
          </a:p>
        </p:txBody>
      </p:sp>
      <p:sp>
        <p:nvSpPr>
          <p:cNvPr id="10" name="Text 6"/>
          <p:cNvSpPr/>
          <p:nvPr/>
        </p:nvSpPr>
        <p:spPr>
          <a:xfrm>
            <a:off x="4633168" y="1774254"/>
            <a:ext cx="3970809" cy="176659"/>
          </a:xfrm>
          <a:prstGeom prst="rect">
            <a:avLst/>
          </a:prstGeom>
          <a:noFill/>
          <a:ln/>
        </p:spPr>
        <p:txBody>
          <a:bodyPr wrap="none" lIns="0" tIns="0" rIns="0" bIns="0" rtlCol="0" anchor="t"/>
          <a:lstStyle/>
          <a:p>
            <a:pPr marL="0" indent="0" algn="l">
              <a:lnSpc>
                <a:spcPct val="120000"/>
              </a:lnSpc>
              <a:buNone/>
            </a:pPr>
            <a:r>
              <a:rPr lang="en-US" sz="950" dirty="0">
                <a:solidFill>
                  <a:srgbClr val="383838"/>
                </a:solidFill>
                <a:latin typeface="Patrick Hand" pitchFamily="34" charset="0"/>
                <a:ea typeface="Patrick Hand" pitchFamily="34" charset="-122"/>
                <a:cs typeface="Patrick Hand" pitchFamily="34" charset="-120"/>
              </a:rPr>
              <a:t>From requirements to tested, documented code — fully automated</a:t>
            </a:r>
            <a:endParaRPr lang="en-US" sz="9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0023" y="2146846"/>
            <a:ext cx="307404" cy="307404"/>
          </a:xfrm>
          <a:prstGeom prst="rect">
            <a:avLst/>
          </a:prstGeom>
        </p:spPr>
      </p:pic>
      <p:sp>
        <p:nvSpPr>
          <p:cNvPr id="12" name="Text 7"/>
          <p:cNvSpPr/>
          <p:nvPr/>
        </p:nvSpPr>
        <p:spPr>
          <a:xfrm>
            <a:off x="540023" y="2576661"/>
            <a:ext cx="3970734" cy="153665"/>
          </a:xfrm>
          <a:prstGeom prst="rect">
            <a:avLst/>
          </a:prstGeom>
          <a:noFill/>
          <a:ln/>
        </p:spPr>
        <p:txBody>
          <a:bodyPr wrap="none" lIns="0" tIns="0" rIns="0" bIns="0" rtlCol="0" anchor="t"/>
          <a:lstStyle/>
          <a:p>
            <a:pPr marL="0" indent="0" algn="l">
              <a:lnSpc>
                <a:spcPct val="104000"/>
              </a:lnSpc>
              <a:buNone/>
            </a:pPr>
            <a:r>
              <a:rPr lang="en-US" sz="950" dirty="0">
                <a:solidFill>
                  <a:srgbClr val="383838"/>
                </a:solidFill>
                <a:latin typeface="Patrick Hand" pitchFamily="34" charset="0"/>
                <a:ea typeface="Patrick Hand" pitchFamily="34" charset="-122"/>
                <a:cs typeface="Patrick Hand" pitchFamily="34" charset="-120"/>
              </a:rPr>
              <a:t>Reflection-Based Improvement</a:t>
            </a:r>
            <a:endParaRPr lang="en-US" sz="950" dirty="0"/>
          </a:p>
        </p:txBody>
      </p:sp>
      <p:sp>
        <p:nvSpPr>
          <p:cNvPr id="13" name="Text 8"/>
          <p:cNvSpPr/>
          <p:nvPr/>
        </p:nvSpPr>
        <p:spPr>
          <a:xfrm>
            <a:off x="540023" y="2789113"/>
            <a:ext cx="3970734" cy="176659"/>
          </a:xfrm>
          <a:prstGeom prst="rect">
            <a:avLst/>
          </a:prstGeom>
          <a:noFill/>
          <a:ln/>
        </p:spPr>
        <p:txBody>
          <a:bodyPr wrap="none" lIns="0" tIns="0" rIns="0" bIns="0" rtlCol="0" anchor="t"/>
          <a:lstStyle/>
          <a:p>
            <a:pPr marL="0" indent="0" algn="l">
              <a:lnSpc>
                <a:spcPct val="120000"/>
              </a:lnSpc>
              <a:buNone/>
            </a:pPr>
            <a:r>
              <a:rPr lang="en-US" sz="950" dirty="0">
                <a:solidFill>
                  <a:srgbClr val="383838"/>
                </a:solidFill>
                <a:latin typeface="Patrick Hand" pitchFamily="34" charset="0"/>
                <a:ea typeface="Patrick Hand" pitchFamily="34" charset="-122"/>
                <a:cs typeface="Patrick Hand" pitchFamily="34" charset="-120"/>
              </a:rPr>
              <a:t>Iterative review loops continuously elevate code quality</a:t>
            </a:r>
            <a:endParaRPr lang="en-US" sz="9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33168" y="2146846"/>
            <a:ext cx="307404" cy="307404"/>
          </a:xfrm>
          <a:prstGeom prst="rect">
            <a:avLst/>
          </a:prstGeom>
        </p:spPr>
      </p:pic>
      <p:sp>
        <p:nvSpPr>
          <p:cNvPr id="15" name="Text 9"/>
          <p:cNvSpPr/>
          <p:nvPr/>
        </p:nvSpPr>
        <p:spPr>
          <a:xfrm>
            <a:off x="4633168" y="2576661"/>
            <a:ext cx="3970809" cy="153665"/>
          </a:xfrm>
          <a:prstGeom prst="rect">
            <a:avLst/>
          </a:prstGeom>
          <a:noFill/>
          <a:ln/>
        </p:spPr>
        <p:txBody>
          <a:bodyPr wrap="none" lIns="0" tIns="0" rIns="0" bIns="0" rtlCol="0" anchor="t"/>
          <a:lstStyle/>
          <a:p>
            <a:pPr marL="0" indent="0" algn="l">
              <a:lnSpc>
                <a:spcPct val="104000"/>
              </a:lnSpc>
              <a:buNone/>
            </a:pPr>
            <a:r>
              <a:rPr lang="en-US" sz="950" dirty="0">
                <a:solidFill>
                  <a:srgbClr val="383838"/>
                </a:solidFill>
                <a:latin typeface="Patrick Hand" pitchFamily="34" charset="0"/>
                <a:ea typeface="Patrick Hand" pitchFamily="34" charset="-122"/>
                <a:cs typeface="Patrick Hand" pitchFamily="34" charset="-120"/>
              </a:rPr>
              <a:t>Parallel Execution</a:t>
            </a:r>
            <a:endParaRPr lang="en-US" sz="950" dirty="0"/>
          </a:p>
        </p:txBody>
      </p:sp>
      <p:sp>
        <p:nvSpPr>
          <p:cNvPr id="16" name="Text 10"/>
          <p:cNvSpPr/>
          <p:nvPr/>
        </p:nvSpPr>
        <p:spPr>
          <a:xfrm>
            <a:off x="4633168" y="2789113"/>
            <a:ext cx="3970809" cy="176659"/>
          </a:xfrm>
          <a:prstGeom prst="rect">
            <a:avLst/>
          </a:prstGeom>
          <a:noFill/>
          <a:ln/>
        </p:spPr>
        <p:txBody>
          <a:bodyPr wrap="none" lIns="0" tIns="0" rIns="0" bIns="0" rtlCol="0" anchor="t"/>
          <a:lstStyle/>
          <a:p>
            <a:pPr marL="0" indent="0" algn="l">
              <a:lnSpc>
                <a:spcPct val="120000"/>
              </a:lnSpc>
              <a:buNone/>
            </a:pPr>
            <a:r>
              <a:rPr lang="en-US" sz="950" dirty="0">
                <a:solidFill>
                  <a:srgbClr val="383838"/>
                </a:solidFill>
                <a:latin typeface="Patrick Hand" pitchFamily="34" charset="0"/>
                <a:ea typeface="Patrick Hand" pitchFamily="34" charset="-122"/>
                <a:cs typeface="Patrick Hand" pitchFamily="34" charset="-120"/>
              </a:rPr>
              <a:t>Testing and documentation run simultaneously for speed</a:t>
            </a:r>
            <a:endParaRPr lang="en-US" sz="95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0023" y="3161705"/>
            <a:ext cx="307404" cy="307404"/>
          </a:xfrm>
          <a:prstGeom prst="rect">
            <a:avLst/>
          </a:prstGeom>
        </p:spPr>
      </p:pic>
      <p:sp>
        <p:nvSpPr>
          <p:cNvPr id="18" name="Text 11"/>
          <p:cNvSpPr/>
          <p:nvPr/>
        </p:nvSpPr>
        <p:spPr>
          <a:xfrm>
            <a:off x="540023" y="3591520"/>
            <a:ext cx="3970734" cy="153665"/>
          </a:xfrm>
          <a:prstGeom prst="rect">
            <a:avLst/>
          </a:prstGeom>
          <a:noFill/>
          <a:ln/>
        </p:spPr>
        <p:txBody>
          <a:bodyPr wrap="none" lIns="0" tIns="0" rIns="0" bIns="0" rtlCol="0" anchor="t"/>
          <a:lstStyle/>
          <a:p>
            <a:pPr marL="0" indent="0" algn="l">
              <a:lnSpc>
                <a:spcPct val="104000"/>
              </a:lnSpc>
              <a:buNone/>
            </a:pPr>
            <a:r>
              <a:rPr lang="en-US" sz="950" dirty="0">
                <a:solidFill>
                  <a:srgbClr val="383838"/>
                </a:solidFill>
                <a:latin typeface="Patrick Hand" pitchFamily="34" charset="0"/>
                <a:ea typeface="Patrick Hand" pitchFamily="34" charset="-122"/>
                <a:cs typeface="Patrick Hand" pitchFamily="34" charset="-120"/>
              </a:rPr>
              <a:t>Human-in-the-Loop</a:t>
            </a:r>
            <a:endParaRPr lang="en-US" sz="950" dirty="0"/>
          </a:p>
        </p:txBody>
      </p:sp>
      <p:sp>
        <p:nvSpPr>
          <p:cNvPr id="19" name="Text 12"/>
          <p:cNvSpPr/>
          <p:nvPr/>
        </p:nvSpPr>
        <p:spPr>
          <a:xfrm>
            <a:off x="540023" y="3803972"/>
            <a:ext cx="3970734" cy="176659"/>
          </a:xfrm>
          <a:prstGeom prst="rect">
            <a:avLst/>
          </a:prstGeom>
          <a:noFill/>
          <a:ln/>
        </p:spPr>
        <p:txBody>
          <a:bodyPr wrap="none" lIns="0" tIns="0" rIns="0" bIns="0" rtlCol="0" anchor="t"/>
          <a:lstStyle/>
          <a:p>
            <a:pPr marL="0" indent="0" algn="l">
              <a:lnSpc>
                <a:spcPct val="120000"/>
              </a:lnSpc>
              <a:buNone/>
            </a:pPr>
            <a:r>
              <a:rPr lang="en-US" sz="950" dirty="0">
                <a:solidFill>
                  <a:srgbClr val="383838"/>
                </a:solidFill>
                <a:latin typeface="Patrick Hand" pitchFamily="34" charset="0"/>
                <a:ea typeface="Patrick Hand" pitchFamily="34" charset="-122"/>
                <a:cs typeface="Patrick Hand" pitchFamily="34" charset="-120"/>
              </a:rPr>
              <a:t>Critical decisions require developer approval before proceeding</a:t>
            </a:r>
            <a:endParaRPr lang="en-US" sz="950" dirty="0"/>
          </a:p>
        </p:txBody>
      </p:sp>
      <p:pic>
        <p:nvPicPr>
          <p:cNvPr id="2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33168" y="3161705"/>
            <a:ext cx="307404" cy="307404"/>
          </a:xfrm>
          <a:prstGeom prst="rect">
            <a:avLst/>
          </a:prstGeom>
        </p:spPr>
      </p:pic>
      <p:sp>
        <p:nvSpPr>
          <p:cNvPr id="21" name="Text 13"/>
          <p:cNvSpPr/>
          <p:nvPr/>
        </p:nvSpPr>
        <p:spPr>
          <a:xfrm>
            <a:off x="4633168" y="3591520"/>
            <a:ext cx="3970809" cy="153665"/>
          </a:xfrm>
          <a:prstGeom prst="rect">
            <a:avLst/>
          </a:prstGeom>
          <a:noFill/>
          <a:ln/>
        </p:spPr>
        <p:txBody>
          <a:bodyPr wrap="none" lIns="0" tIns="0" rIns="0" bIns="0" rtlCol="0" anchor="t"/>
          <a:lstStyle/>
          <a:p>
            <a:pPr marL="0" indent="0" algn="l">
              <a:lnSpc>
                <a:spcPct val="104000"/>
              </a:lnSpc>
              <a:buNone/>
            </a:pPr>
            <a:r>
              <a:rPr lang="en-US" sz="950" dirty="0">
                <a:solidFill>
                  <a:srgbClr val="383838"/>
                </a:solidFill>
                <a:latin typeface="Patrick Hand" pitchFamily="34" charset="0"/>
                <a:ea typeface="Patrick Hand" pitchFamily="34" charset="-122"/>
                <a:cs typeface="Patrick Hand" pitchFamily="34" charset="-120"/>
              </a:rPr>
              <a:t>Bug Investigation</a:t>
            </a:r>
            <a:endParaRPr lang="en-US" sz="950" dirty="0"/>
          </a:p>
        </p:txBody>
      </p:sp>
      <p:sp>
        <p:nvSpPr>
          <p:cNvPr id="22" name="Text 14"/>
          <p:cNvSpPr/>
          <p:nvPr/>
        </p:nvSpPr>
        <p:spPr>
          <a:xfrm>
            <a:off x="4633168" y="3803972"/>
            <a:ext cx="3970809" cy="176659"/>
          </a:xfrm>
          <a:prstGeom prst="rect">
            <a:avLst/>
          </a:prstGeom>
          <a:noFill/>
          <a:ln/>
        </p:spPr>
        <p:txBody>
          <a:bodyPr wrap="none" lIns="0" tIns="0" rIns="0" bIns="0" rtlCol="0" anchor="t"/>
          <a:lstStyle/>
          <a:p>
            <a:pPr marL="0" indent="0" algn="l">
              <a:lnSpc>
                <a:spcPct val="120000"/>
              </a:lnSpc>
              <a:buNone/>
            </a:pPr>
            <a:r>
              <a:rPr lang="en-US" sz="950" dirty="0">
                <a:solidFill>
                  <a:srgbClr val="383838"/>
                </a:solidFill>
                <a:latin typeface="Patrick Hand" pitchFamily="34" charset="0"/>
                <a:ea typeface="Patrick Hand" pitchFamily="34" charset="-122"/>
                <a:cs typeface="Patrick Hand" pitchFamily="34" charset="-120"/>
              </a:rPr>
              <a:t>Root cause analysis with GitHub issue search integration</a:t>
            </a:r>
            <a:endParaRPr lang="en-US" sz="950" dirty="0"/>
          </a:p>
        </p:txBody>
      </p:sp>
      <p:sp>
        <p:nvSpPr>
          <p:cNvPr id="27" name="Rectangle 26">
            <a:extLst>
              <a:ext uri="{FF2B5EF4-FFF2-40B4-BE49-F238E27FC236}">
                <a16:creationId xmlns:a16="http://schemas.microsoft.com/office/drawing/2014/main" id="{B1D3F4A0-BE68-6EC3-D7C9-0CAF0C69F85C}"/>
              </a:ext>
            </a:extLst>
          </p:cNvPr>
          <p:cNvSpPr/>
          <p:nvPr/>
        </p:nvSpPr>
        <p:spPr>
          <a:xfrm>
            <a:off x="8066098" y="4862670"/>
            <a:ext cx="1077902" cy="207838"/>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0023" y="458986"/>
            <a:ext cx="598512" cy="161106"/>
          </a:xfrm>
          <a:prstGeom prst="roundRect">
            <a:avLst>
              <a:gd name="adj" fmla="val 22125"/>
            </a:avLst>
          </a:prstGeom>
          <a:solidFill>
            <a:srgbClr val="E6E6E6"/>
          </a:solidFill>
          <a:ln/>
        </p:spPr>
      </p:sp>
      <p:sp>
        <p:nvSpPr>
          <p:cNvPr id="3" name="Text 1"/>
          <p:cNvSpPr/>
          <p:nvPr/>
        </p:nvSpPr>
        <p:spPr>
          <a:xfrm>
            <a:off x="603647" y="490761"/>
            <a:ext cx="928464" cy="97557"/>
          </a:xfrm>
          <a:prstGeom prst="rect">
            <a:avLst/>
          </a:prstGeom>
          <a:noFill/>
          <a:ln/>
        </p:spPr>
        <p:txBody>
          <a:bodyPr wrap="none" lIns="0" tIns="0" rIns="0" bIns="0" rtlCol="0" anchor="t"/>
          <a:lstStyle/>
          <a:p>
            <a:pPr marL="0" indent="0" algn="l">
              <a:lnSpc>
                <a:spcPct val="96000"/>
              </a:lnSpc>
              <a:buNone/>
            </a:pPr>
            <a:r>
              <a:rPr lang="en-US" sz="650" dirty="0">
                <a:solidFill>
                  <a:srgbClr val="383838"/>
                </a:solidFill>
                <a:latin typeface="Patrick Hand" pitchFamily="34" charset="0"/>
                <a:ea typeface="Patrick Hand" pitchFamily="34" charset="-122"/>
                <a:cs typeface="Patrick Hand" pitchFamily="34" charset="-120"/>
              </a:rPr>
              <a:t>FUTURE SCOPE</a:t>
            </a:r>
            <a:endParaRPr lang="en-US" sz="650" dirty="0"/>
          </a:p>
        </p:txBody>
      </p:sp>
      <p:sp>
        <p:nvSpPr>
          <p:cNvPr id="4" name="Text 2"/>
          <p:cNvSpPr/>
          <p:nvPr/>
        </p:nvSpPr>
        <p:spPr>
          <a:xfrm>
            <a:off x="540023" y="649263"/>
            <a:ext cx="8063954" cy="265137"/>
          </a:xfrm>
          <a:prstGeom prst="rect">
            <a:avLst/>
          </a:prstGeom>
          <a:noFill/>
          <a:ln/>
        </p:spPr>
        <p:txBody>
          <a:bodyPr wrap="none" lIns="0" tIns="0" rIns="0" bIns="0" rtlCol="0" anchor="t"/>
          <a:lstStyle/>
          <a:p>
            <a:pPr marL="0" indent="0" algn="l">
              <a:lnSpc>
                <a:spcPct val="104000"/>
              </a:lnSpc>
              <a:buNone/>
            </a:pPr>
            <a:r>
              <a:rPr lang="en-US" sz="1650" dirty="0">
                <a:solidFill>
                  <a:srgbClr val="383838"/>
                </a:solidFill>
                <a:latin typeface="Patrick Hand" pitchFamily="34" charset="0"/>
                <a:ea typeface="Patrick Hand" pitchFamily="34" charset="-122"/>
                <a:cs typeface="Patrick Hand" pitchFamily="34" charset="-120"/>
              </a:rPr>
              <a:t>Future Enhancements</a:t>
            </a:r>
            <a:endParaRPr lang="en-US" sz="1650" dirty="0"/>
          </a:p>
        </p:txBody>
      </p:sp>
      <p:sp>
        <p:nvSpPr>
          <p:cNvPr id="5" name="Text 3"/>
          <p:cNvSpPr/>
          <p:nvPr/>
        </p:nvSpPr>
        <p:spPr>
          <a:xfrm>
            <a:off x="540023" y="1023789"/>
            <a:ext cx="8521154" cy="143247"/>
          </a:xfrm>
          <a:prstGeom prst="rect">
            <a:avLst/>
          </a:prstGeom>
          <a:noFill/>
          <a:ln/>
        </p:spPr>
        <p:txBody>
          <a:bodyPr wrap="none" lIns="0" tIns="0" rIns="0" bIns="0" rtlCol="0" anchor="t"/>
          <a:lstStyle/>
          <a:p>
            <a:pPr marL="0" indent="0" algn="l">
              <a:lnSpc>
                <a:spcPct val="113000"/>
              </a:lnSpc>
              <a:buNone/>
            </a:pPr>
            <a:r>
              <a:rPr lang="en-US" sz="800" dirty="0">
                <a:solidFill>
                  <a:srgbClr val="383838"/>
                </a:solidFill>
                <a:latin typeface="Patrick Hand" pitchFamily="34" charset="0"/>
                <a:ea typeface="Patrick Hand" pitchFamily="34" charset="-122"/>
                <a:cs typeface="Patrick Hand" pitchFamily="34" charset="-120"/>
              </a:rPr>
              <a:t>DevPilot AI is a living platform. The roadmap targets full-stack autonomy — from local development to cloud deployment.</a:t>
            </a:r>
            <a:endParaRPr lang="en-US" sz="800" dirty="0"/>
          </a:p>
        </p:txBody>
      </p:sp>
      <p:sp>
        <p:nvSpPr>
          <p:cNvPr id="6" name="Shape 4"/>
          <p:cNvSpPr/>
          <p:nvPr/>
        </p:nvSpPr>
        <p:spPr>
          <a:xfrm>
            <a:off x="4564856" y="1249040"/>
            <a:ext cx="14288" cy="2486174"/>
          </a:xfrm>
          <a:prstGeom prst="roundRect">
            <a:avLst>
              <a:gd name="adj" fmla="val 49998"/>
            </a:avLst>
          </a:prstGeom>
          <a:solidFill>
            <a:srgbClr val="CCCCCC"/>
          </a:solidFill>
          <a:ln/>
        </p:spPr>
      </p:sp>
      <p:sp>
        <p:nvSpPr>
          <p:cNvPr id="7" name="Shape 5"/>
          <p:cNvSpPr/>
          <p:nvPr/>
        </p:nvSpPr>
        <p:spPr>
          <a:xfrm>
            <a:off x="4148770" y="1361182"/>
            <a:ext cx="318195" cy="14288"/>
          </a:xfrm>
          <a:prstGeom prst="roundRect">
            <a:avLst>
              <a:gd name="adj" fmla="val 49998"/>
            </a:avLst>
          </a:prstGeom>
          <a:solidFill>
            <a:srgbClr val="CCCCCC"/>
          </a:solidFill>
          <a:ln/>
        </p:spPr>
      </p:sp>
      <p:sp>
        <p:nvSpPr>
          <p:cNvPr id="8" name="Shape 6"/>
          <p:cNvSpPr/>
          <p:nvPr/>
        </p:nvSpPr>
        <p:spPr>
          <a:xfrm>
            <a:off x="4452677" y="1249040"/>
            <a:ext cx="238646" cy="238646"/>
          </a:xfrm>
          <a:prstGeom prst="roundRect">
            <a:avLst>
              <a:gd name="adj" fmla="val 18670"/>
            </a:avLst>
          </a:prstGeom>
          <a:solidFill>
            <a:srgbClr val="E6E6E6"/>
          </a:solidFill>
          <a:ln w="4763">
            <a:solidFill>
              <a:srgbClr val="CCCCCC"/>
            </a:solidFill>
            <a:prstDash val="solid"/>
          </a:ln>
        </p:spPr>
      </p:sp>
      <p:sp>
        <p:nvSpPr>
          <p:cNvPr id="9" name="Text 7"/>
          <p:cNvSpPr/>
          <p:nvPr/>
        </p:nvSpPr>
        <p:spPr>
          <a:xfrm>
            <a:off x="4508339" y="1288777"/>
            <a:ext cx="127248" cy="159097"/>
          </a:xfrm>
          <a:prstGeom prst="rect">
            <a:avLst/>
          </a:prstGeom>
          <a:noFill/>
          <a:ln/>
        </p:spPr>
        <p:txBody>
          <a:bodyPr wrap="none" lIns="0" tIns="0" rIns="0" bIns="0" rtlCol="0" anchor="ctr"/>
          <a:lstStyle/>
          <a:p>
            <a:pPr marL="0" indent="0" algn="ctr">
              <a:lnSpc>
                <a:spcPct val="100000"/>
              </a:lnSpc>
              <a:buNone/>
            </a:pPr>
            <a:r>
              <a:rPr lang="en-US" sz="1000" dirty="0">
                <a:solidFill>
                  <a:srgbClr val="383838"/>
                </a:solidFill>
                <a:latin typeface="Patrick Hand" pitchFamily="34" charset="0"/>
                <a:ea typeface="Patrick Hand" pitchFamily="34" charset="-122"/>
                <a:cs typeface="Patrick Hand" pitchFamily="34" charset="-120"/>
              </a:rPr>
              <a:t>1</a:t>
            </a:r>
            <a:endParaRPr lang="en-US" sz="1000" dirty="0"/>
          </a:p>
        </p:txBody>
      </p:sp>
      <p:sp>
        <p:nvSpPr>
          <p:cNvPr id="10" name="Text 8"/>
          <p:cNvSpPr/>
          <p:nvPr/>
        </p:nvSpPr>
        <p:spPr>
          <a:xfrm>
            <a:off x="540023" y="1285503"/>
            <a:ext cx="3501554" cy="132606"/>
          </a:xfrm>
          <a:prstGeom prst="rect">
            <a:avLst/>
          </a:prstGeom>
          <a:noFill/>
          <a:ln/>
        </p:spPr>
        <p:txBody>
          <a:bodyPr wrap="none" lIns="0" tIns="0" rIns="0" bIns="0" rtlCol="0" anchor="t"/>
          <a:lstStyle/>
          <a:p>
            <a:pPr marL="0" indent="0" algn="r">
              <a:lnSpc>
                <a:spcPct val="104000"/>
              </a:lnSpc>
              <a:buNone/>
            </a:pPr>
            <a:r>
              <a:rPr lang="en-US" sz="800" dirty="0">
                <a:solidFill>
                  <a:srgbClr val="383838"/>
                </a:solidFill>
                <a:latin typeface="Patrick Hand" pitchFamily="34" charset="0"/>
                <a:ea typeface="Patrick Hand" pitchFamily="34" charset="-122"/>
                <a:cs typeface="Patrick Hand" pitchFamily="34" charset="-120"/>
              </a:rPr>
              <a:t>Phase 1</a:t>
            </a:r>
            <a:endParaRPr lang="en-US" sz="800" dirty="0"/>
          </a:p>
        </p:txBody>
      </p:sp>
      <p:sp>
        <p:nvSpPr>
          <p:cNvPr id="11" name="Text 9"/>
          <p:cNvSpPr/>
          <p:nvPr/>
        </p:nvSpPr>
        <p:spPr>
          <a:xfrm>
            <a:off x="540023" y="1461864"/>
            <a:ext cx="3501554" cy="143247"/>
          </a:xfrm>
          <a:prstGeom prst="rect">
            <a:avLst/>
          </a:prstGeom>
          <a:noFill/>
          <a:ln/>
        </p:spPr>
        <p:txBody>
          <a:bodyPr wrap="none" lIns="0" tIns="0" rIns="0" bIns="0" rtlCol="0" anchor="t"/>
          <a:lstStyle/>
          <a:p>
            <a:pPr marL="0" indent="0" algn="r">
              <a:lnSpc>
                <a:spcPct val="113000"/>
              </a:lnSpc>
              <a:buNone/>
            </a:pPr>
            <a:r>
              <a:rPr lang="en-US" sz="800" dirty="0">
                <a:solidFill>
                  <a:srgbClr val="383838"/>
                </a:solidFill>
                <a:latin typeface="Patrick Hand" pitchFamily="34" charset="0"/>
                <a:ea typeface="Patrick Hand" pitchFamily="34" charset="-122"/>
                <a:cs typeface="Patrick Hand" pitchFamily="34" charset="-120"/>
              </a:rPr>
              <a:t>Multi-language code generation · Docker containerization support</a:t>
            </a:r>
            <a:endParaRPr lang="en-US" sz="800" dirty="0"/>
          </a:p>
        </p:txBody>
      </p:sp>
      <p:sp>
        <p:nvSpPr>
          <p:cNvPr id="12" name="Shape 10"/>
          <p:cNvSpPr/>
          <p:nvPr/>
        </p:nvSpPr>
        <p:spPr>
          <a:xfrm>
            <a:off x="4677035" y="1931343"/>
            <a:ext cx="318195" cy="14288"/>
          </a:xfrm>
          <a:prstGeom prst="roundRect">
            <a:avLst>
              <a:gd name="adj" fmla="val 49998"/>
            </a:avLst>
          </a:prstGeom>
          <a:solidFill>
            <a:srgbClr val="CCCCCC"/>
          </a:solidFill>
          <a:ln/>
        </p:spPr>
      </p:sp>
      <p:sp>
        <p:nvSpPr>
          <p:cNvPr id="13" name="Shape 11"/>
          <p:cNvSpPr/>
          <p:nvPr/>
        </p:nvSpPr>
        <p:spPr>
          <a:xfrm>
            <a:off x="4452677" y="1819201"/>
            <a:ext cx="238646" cy="238646"/>
          </a:xfrm>
          <a:prstGeom prst="roundRect">
            <a:avLst>
              <a:gd name="adj" fmla="val 18670"/>
            </a:avLst>
          </a:prstGeom>
          <a:solidFill>
            <a:srgbClr val="E6E6E6"/>
          </a:solidFill>
          <a:ln w="4763">
            <a:solidFill>
              <a:srgbClr val="CCCCCC"/>
            </a:solidFill>
            <a:prstDash val="solid"/>
          </a:ln>
        </p:spPr>
      </p:sp>
      <p:sp>
        <p:nvSpPr>
          <p:cNvPr id="14" name="Text 12"/>
          <p:cNvSpPr/>
          <p:nvPr/>
        </p:nvSpPr>
        <p:spPr>
          <a:xfrm>
            <a:off x="4508339" y="1858938"/>
            <a:ext cx="127248" cy="159097"/>
          </a:xfrm>
          <a:prstGeom prst="rect">
            <a:avLst/>
          </a:prstGeom>
          <a:noFill/>
          <a:ln/>
        </p:spPr>
        <p:txBody>
          <a:bodyPr wrap="none" lIns="0" tIns="0" rIns="0" bIns="0" rtlCol="0" anchor="ctr"/>
          <a:lstStyle/>
          <a:p>
            <a:pPr marL="0" indent="0" algn="ctr">
              <a:lnSpc>
                <a:spcPct val="100000"/>
              </a:lnSpc>
              <a:buNone/>
            </a:pPr>
            <a:r>
              <a:rPr lang="en-US" sz="1000" dirty="0">
                <a:solidFill>
                  <a:srgbClr val="383838"/>
                </a:solidFill>
                <a:latin typeface="Patrick Hand" pitchFamily="34" charset="0"/>
                <a:ea typeface="Patrick Hand" pitchFamily="34" charset="-122"/>
                <a:cs typeface="Patrick Hand" pitchFamily="34" charset="-120"/>
              </a:rPr>
              <a:t>2</a:t>
            </a:r>
            <a:endParaRPr lang="en-US" sz="1000" dirty="0"/>
          </a:p>
        </p:txBody>
      </p:sp>
      <p:sp>
        <p:nvSpPr>
          <p:cNvPr id="15" name="Text 13"/>
          <p:cNvSpPr/>
          <p:nvPr/>
        </p:nvSpPr>
        <p:spPr>
          <a:xfrm>
            <a:off x="5102423" y="1855663"/>
            <a:ext cx="3501554" cy="132606"/>
          </a:xfrm>
          <a:prstGeom prst="rect">
            <a:avLst/>
          </a:prstGeom>
          <a:noFill/>
          <a:ln/>
        </p:spPr>
        <p:txBody>
          <a:bodyPr wrap="none" lIns="0" tIns="0" rIns="0" bIns="0" rtlCol="0" anchor="t"/>
          <a:lstStyle/>
          <a:p>
            <a:pPr marL="0" indent="0" algn="l">
              <a:lnSpc>
                <a:spcPct val="104000"/>
              </a:lnSpc>
              <a:buNone/>
            </a:pPr>
            <a:r>
              <a:rPr lang="en-US" sz="800" dirty="0">
                <a:solidFill>
                  <a:srgbClr val="383838"/>
                </a:solidFill>
                <a:latin typeface="Patrick Hand" pitchFamily="34" charset="0"/>
                <a:ea typeface="Patrick Hand" pitchFamily="34" charset="-122"/>
                <a:cs typeface="Patrick Hand" pitchFamily="34" charset="-120"/>
              </a:rPr>
              <a:t>Phase 2</a:t>
            </a:r>
            <a:endParaRPr lang="en-US" sz="800" dirty="0"/>
          </a:p>
        </p:txBody>
      </p:sp>
      <p:sp>
        <p:nvSpPr>
          <p:cNvPr id="16" name="Text 14"/>
          <p:cNvSpPr/>
          <p:nvPr/>
        </p:nvSpPr>
        <p:spPr>
          <a:xfrm>
            <a:off x="5102423" y="2032025"/>
            <a:ext cx="3501554" cy="143247"/>
          </a:xfrm>
          <a:prstGeom prst="rect">
            <a:avLst/>
          </a:prstGeom>
          <a:noFill/>
          <a:ln/>
        </p:spPr>
        <p:txBody>
          <a:bodyPr wrap="none" lIns="0" tIns="0" rIns="0" bIns="0" rtlCol="0" anchor="t"/>
          <a:lstStyle/>
          <a:p>
            <a:pPr marL="0" indent="0" algn="l">
              <a:lnSpc>
                <a:spcPct val="113000"/>
              </a:lnSpc>
              <a:buNone/>
            </a:pPr>
            <a:r>
              <a:rPr lang="en-US" sz="800" dirty="0">
                <a:solidFill>
                  <a:srgbClr val="383838"/>
                </a:solidFill>
                <a:latin typeface="Patrick Hand" pitchFamily="34" charset="0"/>
                <a:ea typeface="Patrick Hand" pitchFamily="34" charset="-122"/>
                <a:cs typeface="Patrick Hand" pitchFamily="34" charset="-120"/>
              </a:rPr>
              <a:t>Cloud deployment · Web dashboard for project management</a:t>
            </a:r>
            <a:endParaRPr lang="en-US" sz="800" dirty="0"/>
          </a:p>
        </p:txBody>
      </p:sp>
      <p:sp>
        <p:nvSpPr>
          <p:cNvPr id="17" name="Shape 15"/>
          <p:cNvSpPr/>
          <p:nvPr/>
        </p:nvSpPr>
        <p:spPr>
          <a:xfrm>
            <a:off x="4148770" y="2446809"/>
            <a:ext cx="318195" cy="14288"/>
          </a:xfrm>
          <a:prstGeom prst="roundRect">
            <a:avLst>
              <a:gd name="adj" fmla="val 49998"/>
            </a:avLst>
          </a:prstGeom>
          <a:solidFill>
            <a:srgbClr val="CCCCCC"/>
          </a:solidFill>
          <a:ln/>
        </p:spPr>
      </p:sp>
      <p:sp>
        <p:nvSpPr>
          <p:cNvPr id="18" name="Shape 16"/>
          <p:cNvSpPr/>
          <p:nvPr/>
        </p:nvSpPr>
        <p:spPr>
          <a:xfrm>
            <a:off x="4452677" y="2334667"/>
            <a:ext cx="238646" cy="238646"/>
          </a:xfrm>
          <a:prstGeom prst="roundRect">
            <a:avLst>
              <a:gd name="adj" fmla="val 18670"/>
            </a:avLst>
          </a:prstGeom>
          <a:solidFill>
            <a:srgbClr val="E6E6E6"/>
          </a:solidFill>
          <a:ln w="4763">
            <a:solidFill>
              <a:srgbClr val="CCCCCC"/>
            </a:solidFill>
            <a:prstDash val="solid"/>
          </a:ln>
        </p:spPr>
      </p:sp>
      <p:sp>
        <p:nvSpPr>
          <p:cNvPr id="19" name="Text 17"/>
          <p:cNvSpPr/>
          <p:nvPr/>
        </p:nvSpPr>
        <p:spPr>
          <a:xfrm>
            <a:off x="4508339" y="2374404"/>
            <a:ext cx="127248" cy="159097"/>
          </a:xfrm>
          <a:prstGeom prst="rect">
            <a:avLst/>
          </a:prstGeom>
          <a:noFill/>
          <a:ln/>
        </p:spPr>
        <p:txBody>
          <a:bodyPr wrap="none" lIns="0" tIns="0" rIns="0" bIns="0" rtlCol="0" anchor="ctr"/>
          <a:lstStyle/>
          <a:p>
            <a:pPr marL="0" indent="0" algn="ctr">
              <a:lnSpc>
                <a:spcPct val="100000"/>
              </a:lnSpc>
              <a:buNone/>
            </a:pPr>
            <a:r>
              <a:rPr lang="en-US" sz="1000" dirty="0">
                <a:solidFill>
                  <a:srgbClr val="383838"/>
                </a:solidFill>
                <a:latin typeface="Patrick Hand" pitchFamily="34" charset="0"/>
                <a:ea typeface="Patrick Hand" pitchFamily="34" charset="-122"/>
                <a:cs typeface="Patrick Hand" pitchFamily="34" charset="-120"/>
              </a:rPr>
              <a:t>3</a:t>
            </a:r>
            <a:endParaRPr lang="en-US" sz="1000" dirty="0"/>
          </a:p>
        </p:txBody>
      </p:sp>
      <p:sp>
        <p:nvSpPr>
          <p:cNvPr id="20" name="Text 18"/>
          <p:cNvSpPr/>
          <p:nvPr/>
        </p:nvSpPr>
        <p:spPr>
          <a:xfrm>
            <a:off x="540023" y="2371130"/>
            <a:ext cx="3501554" cy="132606"/>
          </a:xfrm>
          <a:prstGeom prst="rect">
            <a:avLst/>
          </a:prstGeom>
          <a:noFill/>
          <a:ln/>
        </p:spPr>
        <p:txBody>
          <a:bodyPr wrap="none" lIns="0" tIns="0" rIns="0" bIns="0" rtlCol="0" anchor="t"/>
          <a:lstStyle/>
          <a:p>
            <a:pPr marL="0" indent="0" algn="r">
              <a:lnSpc>
                <a:spcPct val="104000"/>
              </a:lnSpc>
              <a:buNone/>
            </a:pPr>
            <a:r>
              <a:rPr lang="en-US" sz="800" dirty="0">
                <a:solidFill>
                  <a:srgbClr val="383838"/>
                </a:solidFill>
                <a:latin typeface="Patrick Hand" pitchFamily="34" charset="0"/>
                <a:ea typeface="Patrick Hand" pitchFamily="34" charset="-122"/>
                <a:cs typeface="Patrick Hand" pitchFamily="34" charset="-120"/>
              </a:rPr>
              <a:t>Phase 3</a:t>
            </a:r>
            <a:endParaRPr lang="en-US" sz="800" dirty="0"/>
          </a:p>
        </p:txBody>
      </p:sp>
      <p:sp>
        <p:nvSpPr>
          <p:cNvPr id="21" name="Text 19"/>
          <p:cNvSpPr/>
          <p:nvPr/>
        </p:nvSpPr>
        <p:spPr>
          <a:xfrm>
            <a:off x="540023" y="2547491"/>
            <a:ext cx="3501554" cy="143247"/>
          </a:xfrm>
          <a:prstGeom prst="rect">
            <a:avLst/>
          </a:prstGeom>
          <a:noFill/>
          <a:ln/>
        </p:spPr>
        <p:txBody>
          <a:bodyPr wrap="none" lIns="0" tIns="0" rIns="0" bIns="0" rtlCol="0" anchor="t"/>
          <a:lstStyle/>
          <a:p>
            <a:pPr marL="0" indent="0" algn="r">
              <a:lnSpc>
                <a:spcPct val="113000"/>
              </a:lnSpc>
              <a:buNone/>
            </a:pPr>
            <a:r>
              <a:rPr lang="en-US" sz="800" dirty="0">
                <a:solidFill>
                  <a:srgbClr val="383838"/>
                </a:solidFill>
                <a:latin typeface="Patrick Hand" pitchFamily="34" charset="0"/>
                <a:ea typeface="Patrick Hand" pitchFamily="34" charset="-122"/>
                <a:cs typeface="Patrick Hand" pitchFamily="34" charset="-120"/>
              </a:rPr>
              <a:t>GitHub Pull Request automation · Project analytics dashboard</a:t>
            </a:r>
            <a:endParaRPr lang="en-US" sz="800" dirty="0"/>
          </a:p>
        </p:txBody>
      </p:sp>
      <p:sp>
        <p:nvSpPr>
          <p:cNvPr id="22" name="Shape 20"/>
          <p:cNvSpPr/>
          <p:nvPr/>
        </p:nvSpPr>
        <p:spPr>
          <a:xfrm>
            <a:off x="4677035" y="2962275"/>
            <a:ext cx="318195" cy="14288"/>
          </a:xfrm>
          <a:prstGeom prst="roundRect">
            <a:avLst>
              <a:gd name="adj" fmla="val 49998"/>
            </a:avLst>
          </a:prstGeom>
          <a:solidFill>
            <a:srgbClr val="CCCCCC"/>
          </a:solidFill>
          <a:ln/>
        </p:spPr>
      </p:sp>
      <p:sp>
        <p:nvSpPr>
          <p:cNvPr id="23" name="Shape 21"/>
          <p:cNvSpPr/>
          <p:nvPr/>
        </p:nvSpPr>
        <p:spPr>
          <a:xfrm>
            <a:off x="4452677" y="2850133"/>
            <a:ext cx="238646" cy="238646"/>
          </a:xfrm>
          <a:prstGeom prst="roundRect">
            <a:avLst>
              <a:gd name="adj" fmla="val 18670"/>
            </a:avLst>
          </a:prstGeom>
          <a:solidFill>
            <a:srgbClr val="E6E6E6"/>
          </a:solidFill>
          <a:ln w="4763">
            <a:solidFill>
              <a:srgbClr val="CCCCCC"/>
            </a:solidFill>
            <a:prstDash val="solid"/>
          </a:ln>
        </p:spPr>
      </p:sp>
      <p:sp>
        <p:nvSpPr>
          <p:cNvPr id="24" name="Text 22"/>
          <p:cNvSpPr/>
          <p:nvPr/>
        </p:nvSpPr>
        <p:spPr>
          <a:xfrm>
            <a:off x="4508339" y="2889870"/>
            <a:ext cx="127248" cy="159097"/>
          </a:xfrm>
          <a:prstGeom prst="rect">
            <a:avLst/>
          </a:prstGeom>
          <a:noFill/>
          <a:ln/>
        </p:spPr>
        <p:txBody>
          <a:bodyPr wrap="none" lIns="0" tIns="0" rIns="0" bIns="0" rtlCol="0" anchor="ctr"/>
          <a:lstStyle/>
          <a:p>
            <a:pPr marL="0" indent="0" algn="ctr">
              <a:lnSpc>
                <a:spcPct val="100000"/>
              </a:lnSpc>
              <a:buNone/>
            </a:pPr>
            <a:r>
              <a:rPr lang="en-US" sz="1000" dirty="0">
                <a:solidFill>
                  <a:srgbClr val="383838"/>
                </a:solidFill>
                <a:latin typeface="Patrick Hand" pitchFamily="34" charset="0"/>
                <a:ea typeface="Patrick Hand" pitchFamily="34" charset="-122"/>
                <a:cs typeface="Patrick Hand" pitchFamily="34" charset="-120"/>
              </a:rPr>
              <a:t>4</a:t>
            </a:r>
            <a:endParaRPr lang="en-US" sz="1000" dirty="0"/>
          </a:p>
        </p:txBody>
      </p:sp>
      <p:sp>
        <p:nvSpPr>
          <p:cNvPr id="25" name="Text 23"/>
          <p:cNvSpPr/>
          <p:nvPr/>
        </p:nvSpPr>
        <p:spPr>
          <a:xfrm>
            <a:off x="5102423" y="2886596"/>
            <a:ext cx="3501554" cy="132606"/>
          </a:xfrm>
          <a:prstGeom prst="rect">
            <a:avLst/>
          </a:prstGeom>
          <a:noFill/>
          <a:ln/>
        </p:spPr>
        <p:txBody>
          <a:bodyPr wrap="none" lIns="0" tIns="0" rIns="0" bIns="0" rtlCol="0" anchor="t"/>
          <a:lstStyle/>
          <a:p>
            <a:pPr marL="0" indent="0" algn="l">
              <a:lnSpc>
                <a:spcPct val="104000"/>
              </a:lnSpc>
              <a:buNone/>
            </a:pPr>
            <a:r>
              <a:rPr lang="en-US" sz="800" dirty="0">
                <a:solidFill>
                  <a:srgbClr val="383838"/>
                </a:solidFill>
                <a:latin typeface="Patrick Hand" pitchFamily="34" charset="0"/>
                <a:ea typeface="Patrick Hand" pitchFamily="34" charset="-122"/>
                <a:cs typeface="Patrick Hand" pitchFamily="34" charset="-120"/>
              </a:rPr>
              <a:t>Phase 4</a:t>
            </a:r>
            <a:endParaRPr lang="en-US" sz="800" dirty="0"/>
          </a:p>
        </p:txBody>
      </p:sp>
      <p:sp>
        <p:nvSpPr>
          <p:cNvPr id="26" name="Text 24"/>
          <p:cNvSpPr/>
          <p:nvPr/>
        </p:nvSpPr>
        <p:spPr>
          <a:xfrm>
            <a:off x="5102423" y="3062957"/>
            <a:ext cx="3501554" cy="143247"/>
          </a:xfrm>
          <a:prstGeom prst="rect">
            <a:avLst/>
          </a:prstGeom>
          <a:noFill/>
          <a:ln/>
        </p:spPr>
        <p:txBody>
          <a:bodyPr wrap="none" lIns="0" tIns="0" rIns="0" bIns="0" rtlCol="0" anchor="t"/>
          <a:lstStyle/>
          <a:p>
            <a:pPr marL="0" indent="0" algn="l">
              <a:lnSpc>
                <a:spcPct val="113000"/>
              </a:lnSpc>
              <a:buNone/>
            </a:pPr>
            <a:r>
              <a:rPr lang="en-US" sz="800" dirty="0">
                <a:solidFill>
                  <a:srgbClr val="383838"/>
                </a:solidFill>
                <a:latin typeface="Patrick Hand" pitchFamily="34" charset="0"/>
                <a:ea typeface="Patrick Hand" pitchFamily="34" charset="-122"/>
                <a:cs typeface="Patrick Hand" pitchFamily="34" charset="-120"/>
              </a:rPr>
              <a:t>Notification system · Plugin architecture for extensibility</a:t>
            </a:r>
            <a:endParaRPr lang="en-US" sz="800" dirty="0"/>
          </a:p>
        </p:txBody>
      </p:sp>
      <p:sp>
        <p:nvSpPr>
          <p:cNvPr id="27" name="Text 25"/>
          <p:cNvSpPr/>
          <p:nvPr/>
        </p:nvSpPr>
        <p:spPr>
          <a:xfrm>
            <a:off x="699120" y="3899222"/>
            <a:ext cx="8362057" cy="143247"/>
          </a:xfrm>
          <a:prstGeom prst="rect">
            <a:avLst/>
          </a:prstGeom>
          <a:noFill/>
          <a:ln/>
        </p:spPr>
        <p:txBody>
          <a:bodyPr wrap="none" lIns="0" tIns="0" rIns="0" bIns="0" rtlCol="0" anchor="t"/>
          <a:lstStyle/>
          <a:p>
            <a:pPr marL="0" indent="0" algn="l">
              <a:lnSpc>
                <a:spcPct val="113000"/>
              </a:lnSpc>
              <a:buNone/>
            </a:pPr>
            <a:r>
              <a:rPr lang="en-US" sz="800" b="1" dirty="0">
                <a:solidFill>
                  <a:srgbClr val="383838"/>
                </a:solidFill>
                <a:latin typeface="Patrick Hand" pitchFamily="34" charset="0"/>
                <a:ea typeface="Patrick Hand" pitchFamily="34" charset="-122"/>
                <a:cs typeface="Patrick Hand" pitchFamily="34" charset="-120"/>
              </a:rPr>
              <a:t>"Towards a Fully Autonomous AI Software Engineering Platform."</a:t>
            </a:r>
            <a:endParaRPr lang="en-US" sz="800" dirty="0"/>
          </a:p>
        </p:txBody>
      </p:sp>
      <p:sp>
        <p:nvSpPr>
          <p:cNvPr id="28" name="Shape 26"/>
          <p:cNvSpPr/>
          <p:nvPr/>
        </p:nvSpPr>
        <p:spPr>
          <a:xfrm>
            <a:off x="540023" y="3817218"/>
            <a:ext cx="14288" cy="307256"/>
          </a:xfrm>
          <a:prstGeom prst="roundRect">
            <a:avLst>
              <a:gd name="adj" fmla="val 49998"/>
            </a:avLst>
          </a:prstGeom>
          <a:solidFill>
            <a:srgbClr val="CCCCCC"/>
          </a:solidFill>
          <a:ln/>
        </p:spPr>
      </p:sp>
      <p:sp>
        <p:nvSpPr>
          <p:cNvPr id="33" name="Rectangle 32">
            <a:extLst>
              <a:ext uri="{FF2B5EF4-FFF2-40B4-BE49-F238E27FC236}">
                <a16:creationId xmlns:a16="http://schemas.microsoft.com/office/drawing/2014/main" id="{7EB73D57-1902-6745-4B83-59CC48C87A00}"/>
              </a:ext>
            </a:extLst>
          </p:cNvPr>
          <p:cNvSpPr/>
          <p:nvPr/>
        </p:nvSpPr>
        <p:spPr>
          <a:xfrm>
            <a:off x="8066098" y="4862670"/>
            <a:ext cx="1077902" cy="207838"/>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0023" y="529233"/>
            <a:ext cx="726356" cy="216098"/>
          </a:xfrm>
          <a:prstGeom prst="roundRect">
            <a:avLst>
              <a:gd name="adj" fmla="val 22118"/>
            </a:avLst>
          </a:prstGeom>
          <a:solidFill>
            <a:srgbClr val="E6E6E6"/>
          </a:solidFill>
          <a:ln/>
        </p:spPr>
      </p:sp>
      <p:sp>
        <p:nvSpPr>
          <p:cNvPr id="3" name="Text 1"/>
          <p:cNvSpPr/>
          <p:nvPr/>
        </p:nvSpPr>
        <p:spPr>
          <a:xfrm>
            <a:off x="625301" y="571872"/>
            <a:ext cx="1012999" cy="130820"/>
          </a:xfrm>
          <a:prstGeom prst="rect">
            <a:avLst/>
          </a:prstGeom>
          <a:noFill/>
          <a:ln/>
        </p:spPr>
        <p:txBody>
          <a:bodyPr wrap="none" lIns="0" tIns="0" rIns="0" bIns="0" rtlCol="0" anchor="t"/>
          <a:lstStyle/>
          <a:p>
            <a:pPr marL="0" indent="0" algn="l">
              <a:lnSpc>
                <a:spcPct val="96000"/>
              </a:lnSpc>
              <a:buNone/>
            </a:pPr>
            <a:r>
              <a:rPr lang="en-US" sz="850" dirty="0">
                <a:solidFill>
                  <a:srgbClr val="383838"/>
                </a:solidFill>
                <a:latin typeface="Patrick Hand" pitchFamily="34" charset="0"/>
                <a:ea typeface="Patrick Hand" pitchFamily="34" charset="-122"/>
                <a:cs typeface="Patrick Hand" pitchFamily="34" charset="-120"/>
              </a:rPr>
              <a:t>CONCLUSION</a:t>
            </a:r>
            <a:endParaRPr lang="en-US" sz="850" dirty="0"/>
          </a:p>
        </p:txBody>
      </p:sp>
      <p:sp>
        <p:nvSpPr>
          <p:cNvPr id="4" name="Text 2"/>
          <p:cNvSpPr/>
          <p:nvPr/>
        </p:nvSpPr>
        <p:spPr>
          <a:xfrm>
            <a:off x="540023" y="797719"/>
            <a:ext cx="8063954" cy="355550"/>
          </a:xfrm>
          <a:prstGeom prst="rect">
            <a:avLst/>
          </a:prstGeom>
          <a:noFill/>
          <a:ln/>
        </p:spPr>
        <p:txBody>
          <a:bodyPr wrap="none" lIns="0" tIns="0" rIns="0" bIns="0" rtlCol="0" anchor="t"/>
          <a:lstStyle/>
          <a:p>
            <a:pPr marL="0" indent="0" algn="l">
              <a:lnSpc>
                <a:spcPct val="104000"/>
              </a:lnSpc>
              <a:buNone/>
            </a:pPr>
            <a:r>
              <a:rPr lang="en-US" sz="2200" dirty="0">
                <a:solidFill>
                  <a:srgbClr val="383838"/>
                </a:solidFill>
                <a:latin typeface="Patrick Hand" pitchFamily="34" charset="0"/>
                <a:ea typeface="Patrick Hand" pitchFamily="34" charset="-122"/>
                <a:cs typeface="Patrick Hand" pitchFamily="34" charset="-120"/>
              </a:rPr>
              <a:t>Conclusion</a:t>
            </a:r>
            <a:endParaRPr lang="en-US" sz="2200" dirty="0"/>
          </a:p>
        </p:txBody>
      </p:sp>
      <p:sp>
        <p:nvSpPr>
          <p:cNvPr id="5" name="Shape 3"/>
          <p:cNvSpPr/>
          <p:nvPr/>
        </p:nvSpPr>
        <p:spPr>
          <a:xfrm>
            <a:off x="540023" y="1349946"/>
            <a:ext cx="320055" cy="320055"/>
          </a:xfrm>
          <a:prstGeom prst="roundRect">
            <a:avLst>
              <a:gd name="adj" fmla="val 18667"/>
            </a:avLst>
          </a:prstGeom>
          <a:solidFill>
            <a:srgbClr val="E6E6E6"/>
          </a:solidFill>
          <a:ln w="4763">
            <a:solidFill>
              <a:srgbClr val="CCCCCC"/>
            </a:solidFill>
            <a:prstDash val="solid"/>
          </a:ln>
        </p:spPr>
      </p:sp>
      <p:sp>
        <p:nvSpPr>
          <p:cNvPr id="6" name="Text 4"/>
          <p:cNvSpPr/>
          <p:nvPr/>
        </p:nvSpPr>
        <p:spPr>
          <a:xfrm>
            <a:off x="991195" y="1398836"/>
            <a:ext cx="2127572" cy="177850"/>
          </a:xfrm>
          <a:prstGeom prst="rect">
            <a:avLst/>
          </a:prstGeom>
          <a:noFill/>
          <a:ln/>
        </p:spPr>
        <p:txBody>
          <a:bodyPr wrap="none" lIns="0" tIns="0" rIns="0" bIns="0" rtlCol="0" anchor="t"/>
          <a:lstStyle/>
          <a:p>
            <a:pPr marL="0" indent="0" algn="l">
              <a:lnSpc>
                <a:spcPct val="104000"/>
              </a:lnSpc>
              <a:buNone/>
            </a:pPr>
            <a:r>
              <a:rPr lang="en-US" sz="1100" dirty="0">
                <a:solidFill>
                  <a:srgbClr val="383838"/>
                </a:solidFill>
                <a:latin typeface="Patrick Hand" pitchFamily="34" charset="0"/>
                <a:ea typeface="Patrick Hand" pitchFamily="34" charset="-122"/>
                <a:cs typeface="Patrick Hand" pitchFamily="34" charset="-120"/>
              </a:rPr>
              <a:t>Automates the Complete SDLC</a:t>
            </a:r>
            <a:endParaRPr lang="en-US" sz="1100" dirty="0"/>
          </a:p>
        </p:txBody>
      </p:sp>
      <p:sp>
        <p:nvSpPr>
          <p:cNvPr id="7" name="Text 5"/>
          <p:cNvSpPr/>
          <p:nvPr/>
        </p:nvSpPr>
        <p:spPr>
          <a:xfrm>
            <a:off x="991195" y="1655341"/>
            <a:ext cx="2127572" cy="437406"/>
          </a:xfrm>
          <a:prstGeom prst="rect">
            <a:avLst/>
          </a:prstGeom>
          <a:noFill/>
          <a:ln/>
        </p:spPr>
        <p:txBody>
          <a:bodyPr wrap="square" lIns="0" tIns="0" rIns="0" bIns="0" rtlCol="0" anchor="t">
            <a:normAutofit/>
          </a:bodyPr>
          <a:lstStyle/>
          <a:p>
            <a:pPr marL="0" indent="0" algn="l">
              <a:lnSpc>
                <a:spcPct val="128000"/>
              </a:lnSpc>
              <a:buNone/>
            </a:pPr>
            <a:r>
              <a:rPr lang="en-US" sz="1100" dirty="0">
                <a:solidFill>
                  <a:srgbClr val="383838"/>
                </a:solidFill>
                <a:latin typeface="Patrick Hand" pitchFamily="34" charset="0"/>
                <a:ea typeface="Patrick Hand" pitchFamily="34" charset="-122"/>
                <a:cs typeface="Patrick Hand" pitchFamily="34" charset="-120"/>
              </a:rPr>
              <a:t>From requirement to release — every phase is handled by a specialized AI agent</a:t>
            </a:r>
            <a:endParaRPr lang="en-US" sz="1100" dirty="0"/>
          </a:p>
        </p:txBody>
      </p:sp>
      <p:sp>
        <p:nvSpPr>
          <p:cNvPr id="8" name="Shape 6"/>
          <p:cNvSpPr/>
          <p:nvPr/>
        </p:nvSpPr>
        <p:spPr>
          <a:xfrm>
            <a:off x="3282628" y="1349946"/>
            <a:ext cx="320055" cy="320055"/>
          </a:xfrm>
          <a:prstGeom prst="roundRect">
            <a:avLst>
              <a:gd name="adj" fmla="val 18667"/>
            </a:avLst>
          </a:prstGeom>
          <a:solidFill>
            <a:srgbClr val="E6E6E6"/>
          </a:solidFill>
          <a:ln w="4763">
            <a:solidFill>
              <a:srgbClr val="CCCCCC"/>
            </a:solidFill>
            <a:prstDash val="solid"/>
          </a:ln>
        </p:spPr>
      </p:sp>
      <p:sp>
        <p:nvSpPr>
          <p:cNvPr id="9" name="Text 7"/>
          <p:cNvSpPr/>
          <p:nvPr/>
        </p:nvSpPr>
        <p:spPr>
          <a:xfrm>
            <a:off x="3733800" y="1398836"/>
            <a:ext cx="2127572" cy="177850"/>
          </a:xfrm>
          <a:prstGeom prst="rect">
            <a:avLst/>
          </a:prstGeom>
          <a:noFill/>
          <a:ln/>
        </p:spPr>
        <p:txBody>
          <a:bodyPr wrap="none" lIns="0" tIns="0" rIns="0" bIns="0" rtlCol="0" anchor="t"/>
          <a:lstStyle/>
          <a:p>
            <a:pPr marL="0" indent="0" algn="l">
              <a:lnSpc>
                <a:spcPct val="104000"/>
              </a:lnSpc>
              <a:buNone/>
            </a:pPr>
            <a:r>
              <a:rPr lang="en-US" sz="1100" dirty="0">
                <a:solidFill>
                  <a:srgbClr val="383838"/>
                </a:solidFill>
                <a:latin typeface="Patrick Hand" pitchFamily="34" charset="0"/>
                <a:ea typeface="Patrick Hand" pitchFamily="34" charset="-122"/>
                <a:cs typeface="Patrick Hand" pitchFamily="34" charset="-120"/>
              </a:rPr>
              <a:t>Improves Productivity &amp; Quality</a:t>
            </a:r>
            <a:endParaRPr lang="en-US" sz="1100" dirty="0"/>
          </a:p>
        </p:txBody>
      </p:sp>
      <p:sp>
        <p:nvSpPr>
          <p:cNvPr id="10" name="Text 8"/>
          <p:cNvSpPr/>
          <p:nvPr/>
        </p:nvSpPr>
        <p:spPr>
          <a:xfrm>
            <a:off x="3733800" y="1655341"/>
            <a:ext cx="2127572" cy="437406"/>
          </a:xfrm>
          <a:prstGeom prst="rect">
            <a:avLst/>
          </a:prstGeom>
          <a:noFill/>
          <a:ln/>
        </p:spPr>
        <p:txBody>
          <a:bodyPr wrap="square" lIns="0" tIns="0" rIns="0" bIns="0" rtlCol="0" anchor="t">
            <a:normAutofit/>
          </a:bodyPr>
          <a:lstStyle/>
          <a:p>
            <a:pPr marL="0" indent="0" algn="l">
              <a:lnSpc>
                <a:spcPct val="128000"/>
              </a:lnSpc>
              <a:buNone/>
            </a:pPr>
            <a:r>
              <a:rPr lang="en-US" sz="1100" dirty="0">
                <a:solidFill>
                  <a:srgbClr val="383838"/>
                </a:solidFill>
                <a:latin typeface="Patrick Hand" pitchFamily="34" charset="0"/>
                <a:ea typeface="Patrick Hand" pitchFamily="34" charset="-122"/>
                <a:cs typeface="Patrick Hand" pitchFamily="34" charset="-120"/>
              </a:rPr>
              <a:t>Reflection loops, parallel execution, and automated testing raise the bar</a:t>
            </a:r>
            <a:endParaRPr lang="en-US" sz="1100" dirty="0"/>
          </a:p>
        </p:txBody>
      </p:sp>
      <p:sp>
        <p:nvSpPr>
          <p:cNvPr id="11" name="Shape 9"/>
          <p:cNvSpPr/>
          <p:nvPr/>
        </p:nvSpPr>
        <p:spPr>
          <a:xfrm>
            <a:off x="6025232" y="1349946"/>
            <a:ext cx="320055" cy="320055"/>
          </a:xfrm>
          <a:prstGeom prst="roundRect">
            <a:avLst>
              <a:gd name="adj" fmla="val 18667"/>
            </a:avLst>
          </a:prstGeom>
          <a:solidFill>
            <a:srgbClr val="E6E6E6"/>
          </a:solidFill>
          <a:ln w="4763">
            <a:solidFill>
              <a:srgbClr val="CCCCCC"/>
            </a:solidFill>
            <a:prstDash val="solid"/>
          </a:ln>
        </p:spPr>
      </p:sp>
      <p:sp>
        <p:nvSpPr>
          <p:cNvPr id="12" name="Text 10"/>
          <p:cNvSpPr/>
          <p:nvPr/>
        </p:nvSpPr>
        <p:spPr>
          <a:xfrm>
            <a:off x="6476405" y="1398836"/>
            <a:ext cx="2127572" cy="177850"/>
          </a:xfrm>
          <a:prstGeom prst="rect">
            <a:avLst/>
          </a:prstGeom>
          <a:noFill/>
          <a:ln/>
        </p:spPr>
        <p:txBody>
          <a:bodyPr wrap="none" lIns="0" tIns="0" rIns="0" bIns="0" rtlCol="0" anchor="t"/>
          <a:lstStyle/>
          <a:p>
            <a:pPr marL="0" indent="0" algn="l">
              <a:lnSpc>
                <a:spcPct val="104000"/>
              </a:lnSpc>
              <a:buNone/>
            </a:pPr>
            <a:r>
              <a:rPr lang="en-US" sz="1100" dirty="0">
                <a:solidFill>
                  <a:srgbClr val="383838"/>
                </a:solidFill>
                <a:latin typeface="Patrick Hand" pitchFamily="34" charset="0"/>
                <a:ea typeface="Patrick Hand" pitchFamily="34" charset="-122"/>
                <a:cs typeface="Patrick Hand" pitchFamily="34" charset="-120"/>
              </a:rPr>
              <a:t>Augments, Not Replaces, Developers</a:t>
            </a:r>
            <a:endParaRPr lang="en-US" sz="1100" dirty="0"/>
          </a:p>
        </p:txBody>
      </p:sp>
      <p:sp>
        <p:nvSpPr>
          <p:cNvPr id="13" name="Text 11"/>
          <p:cNvSpPr/>
          <p:nvPr/>
        </p:nvSpPr>
        <p:spPr>
          <a:xfrm>
            <a:off x="6476405" y="1655341"/>
            <a:ext cx="2127572" cy="437406"/>
          </a:xfrm>
          <a:prstGeom prst="rect">
            <a:avLst/>
          </a:prstGeom>
          <a:noFill/>
          <a:ln/>
        </p:spPr>
        <p:txBody>
          <a:bodyPr wrap="square" lIns="0" tIns="0" rIns="0" bIns="0" rtlCol="0" anchor="t">
            <a:normAutofit/>
          </a:bodyPr>
          <a:lstStyle/>
          <a:p>
            <a:pPr marL="0" indent="0" algn="l">
              <a:lnSpc>
                <a:spcPct val="128000"/>
              </a:lnSpc>
              <a:buNone/>
            </a:pPr>
            <a:r>
              <a:rPr lang="en-US" sz="1100" dirty="0">
                <a:solidFill>
                  <a:srgbClr val="383838"/>
                </a:solidFill>
                <a:latin typeface="Patrick Hand" pitchFamily="34" charset="0"/>
                <a:ea typeface="Patrick Hand" pitchFamily="34" charset="-122"/>
                <a:cs typeface="Patrick Hand" pitchFamily="34" charset="-120"/>
              </a:rPr>
              <a:t>Human-in-the-loop approval keeps engineers in control of critical decisions</a:t>
            </a:r>
            <a:endParaRPr lang="en-US" sz="1100" dirty="0"/>
          </a:p>
        </p:txBody>
      </p:sp>
      <p:sp>
        <p:nvSpPr>
          <p:cNvPr id="14" name="Text 12"/>
          <p:cNvSpPr/>
          <p:nvPr/>
        </p:nvSpPr>
        <p:spPr>
          <a:xfrm>
            <a:off x="753368" y="2387724"/>
            <a:ext cx="8307809" cy="218703"/>
          </a:xfrm>
          <a:prstGeom prst="rect">
            <a:avLst/>
          </a:prstGeom>
          <a:noFill/>
          <a:ln/>
        </p:spPr>
        <p:txBody>
          <a:bodyPr wrap="none" lIns="0" tIns="0" rIns="0" bIns="0" rtlCol="0" anchor="t"/>
          <a:lstStyle/>
          <a:p>
            <a:pPr marL="0" indent="0" algn="l">
              <a:lnSpc>
                <a:spcPct val="128000"/>
              </a:lnSpc>
              <a:buNone/>
            </a:pPr>
            <a:r>
              <a:rPr lang="en-US" sz="1100" dirty="0">
                <a:solidFill>
                  <a:srgbClr val="383838"/>
                </a:solidFill>
                <a:latin typeface="Patrick Hand" pitchFamily="34" charset="0"/>
                <a:ea typeface="Patrick Hand" pitchFamily="34" charset="-122"/>
                <a:cs typeface="Patrick Hand" pitchFamily="34" charset="-120"/>
              </a:rPr>
              <a:t>DevPilot AI demonstrates how </a:t>
            </a:r>
            <a:r>
              <a:rPr lang="en-US" sz="1100" b="1" dirty="0">
                <a:solidFill>
                  <a:srgbClr val="383838"/>
                </a:solidFill>
                <a:latin typeface="Patrick Hand" pitchFamily="34" charset="0"/>
                <a:ea typeface="Patrick Hand" pitchFamily="34" charset="-122"/>
                <a:cs typeface="Patrick Hand" pitchFamily="34" charset="-120"/>
              </a:rPr>
              <a:t>collaborative AI agents</a:t>
            </a:r>
            <a:r>
              <a:rPr lang="en-US" sz="1100" dirty="0">
                <a:solidFill>
                  <a:srgbClr val="383838"/>
                </a:solidFill>
                <a:latin typeface="Patrick Hand" pitchFamily="34" charset="0"/>
                <a:ea typeface="Patrick Hand" pitchFamily="34" charset="-122"/>
                <a:cs typeface="Patrick Hand" pitchFamily="34" charset="-120"/>
              </a:rPr>
              <a:t> can transform modern software engineering.</a:t>
            </a:r>
            <a:endParaRPr lang="en-US" sz="1100" dirty="0"/>
          </a:p>
        </p:txBody>
      </p:sp>
      <p:sp>
        <p:nvSpPr>
          <p:cNvPr id="15" name="Shape 13"/>
          <p:cNvSpPr/>
          <p:nvPr/>
        </p:nvSpPr>
        <p:spPr>
          <a:xfrm>
            <a:off x="540023" y="2240235"/>
            <a:ext cx="19050" cy="513680"/>
          </a:xfrm>
          <a:prstGeom prst="roundRect">
            <a:avLst>
              <a:gd name="adj" fmla="val 50000"/>
            </a:avLst>
          </a:prstGeom>
          <a:solidFill>
            <a:srgbClr val="CCCCCC"/>
          </a:solidFill>
          <a:ln/>
        </p:spPr>
      </p:sp>
      <p:sp>
        <p:nvSpPr>
          <p:cNvPr id="21" name="Rectangle 20">
            <a:extLst>
              <a:ext uri="{FF2B5EF4-FFF2-40B4-BE49-F238E27FC236}">
                <a16:creationId xmlns:a16="http://schemas.microsoft.com/office/drawing/2014/main" id="{44BDECB5-BA48-3A76-6782-E4C3CB49BCCA}"/>
              </a:ext>
            </a:extLst>
          </p:cNvPr>
          <p:cNvSpPr/>
          <p:nvPr/>
        </p:nvSpPr>
        <p:spPr>
          <a:xfrm>
            <a:off x="8066098" y="4862670"/>
            <a:ext cx="1077902" cy="207838"/>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736</Words>
  <Application>Microsoft Office PowerPoint</Application>
  <PresentationFormat>On-screen Show (16:9)</PresentationFormat>
  <Paragraphs>119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Patrick Hand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Ketan Bansal</dc:creator>
  <cp:lastModifiedBy>Ketan Bansal</cp:lastModifiedBy>
  <cp:revision>2</cp:revision>
  <dcterms:created xsi:type="dcterms:W3CDTF">2026-08-01T18:22:51Z</dcterms:created>
  <dcterms:modified xsi:type="dcterms:W3CDTF">2026-08-01T18:37:31Z</dcterms:modified>
</cp:coreProperties>
</file>